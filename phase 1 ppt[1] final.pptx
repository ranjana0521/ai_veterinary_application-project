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9" r:id="rId4"/>
    <p:sldId id="259" r:id="rId5"/>
    <p:sldId id="260" r:id="rId6"/>
    <p:sldId id="273" r:id="rId7"/>
    <p:sldId id="261" r:id="rId8"/>
    <p:sldId id="262" r:id="rId9"/>
    <p:sldId id="263" r:id="rId10"/>
    <p:sldId id="272" r:id="rId11"/>
    <p:sldId id="270" r:id="rId12"/>
    <p:sldId id="271" r:id="rId13"/>
    <p:sldId id="266" r:id="rId14"/>
    <p:sldId id="264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DF1"/>
    <a:srgbClr val="F9FB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33176C-8441-48AF-B000-BF559A31F66B}" v="1" dt="2025-10-07T15:33:42.0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FAA6AD-9D99-4185-8BA4-24935467367A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513574-9850-4B4E-AFB8-F395A67287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776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5729E-BB4E-8799-6B2D-D1371C813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642761-1B27-6BFC-9034-04E00DD1F4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63730-50D9-10B2-B362-6168AEA3B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743F-E9D7-41D8-85DC-A436CF6AD6A9}" type="datetime1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DEA89-AFF0-E4C2-F321-9EE307DB4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EF2C-3586-FFA9-2D46-2139EA927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952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ACAE2-1567-16F3-6B84-DB030E51D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604BB-3CA8-921F-DB96-CFB252940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DDE7B-84DB-5824-6555-E888E8F42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457D3-7CF2-487C-BF4E-ACD9CEDD8594}" type="datetime1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2DBB1-F133-62E4-1264-78D1EC6A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2AB94-4AAB-162C-92E1-D1A0D71F7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250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9C865-BEFB-1D1F-D812-674B2B8E0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50417-CA43-9CDC-78B7-8E0C568DA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7901E-963D-F87A-6ECE-9AACBC1E5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A5D27-4F1B-4DB8-8249-E55462DA5AD0}" type="datetime1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66F15-13F6-FF1B-18E8-41581816B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8AF60-52F3-52AF-8B89-B7855922F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160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5C228-AF22-6CF5-DD47-1C4CFE556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64A07-D3F5-1093-56BA-5B0C4A4014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9D8D34-D614-6956-DB71-3D77B4662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D7544-71A7-BE18-617D-0108FB28C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0C09-279D-49DB-8C22-0D4684524E15}" type="datetime1">
              <a:rPr lang="en-IN" smtClean="0"/>
              <a:t>08-10-2025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9B8C0-1B9D-AB9E-937A-723D5B6D4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41133A-DF6B-FF85-9F31-9A748360D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796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650E3-F84D-D3A3-2968-16C7639D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2D2F7-E220-6744-B0E5-51C1D6C5A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46E1F2-A0D6-28CA-45FF-BB4A2C44E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43B374-BD47-6318-C903-39F88B24F0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1074E0-905A-FDE6-3261-17D8785592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7E3247-A790-B274-B31E-A8F7F5A1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ED76D-7A50-4C7F-881F-546A06AEF894}" type="datetime1">
              <a:rPr lang="en-IN" smtClean="0"/>
              <a:t>08-10-2025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CC6514-3274-4DD9-F817-4A8B4C18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CF1162-215C-CBC1-E829-D86CD34FB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405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461EA-D4C6-B2AA-FE11-5A7A452BE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CF06CF-147A-85F0-83C4-73C7553D1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9716C-58CD-4A34-9BFF-93086383BEF6}" type="datetime1">
              <a:rPr lang="en-IN" smtClean="0"/>
              <a:t>08-10-2025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38643F-D9DC-DBBD-778B-CF75377BA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2BE99F-42B2-9E6B-ACFD-9E787B3AC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958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88EB54-45D8-C046-9BBC-89FF8D243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3C38-85B6-4BAD-AF31-4C15BDEAF35B}" type="datetime1">
              <a:rPr lang="en-IN" smtClean="0"/>
              <a:t>08-10-2025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AE145-81BD-D979-4DA2-AD70B7A0C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1B710-FDAE-27B9-F932-CDEDE9548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115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C7719-5CD2-1D52-232B-71EA89188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B0F98-FB7E-86C2-0D84-52DCA076B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BAD46E-32A1-42B2-A477-3C0324524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3A755-446F-4E61-8D77-8735EF6DE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B13EB-A447-4214-82D7-ABF2BCB3B538}" type="datetime1">
              <a:rPr lang="en-IN" smtClean="0"/>
              <a:t>08-10-2025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C489B-8186-D679-109E-D228EE608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828C98-2873-7380-F3BE-D8268E105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083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1FE75-D934-0A39-781E-5D451F16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C3462F-F755-C275-FEBA-2B95F266B7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6C9F0-98A9-2E7A-8225-6B7159786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4A7AE-811F-1F1A-B46F-69734390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8F77E-1B87-44A4-9FEA-25391B0B6124}" type="datetime1">
              <a:rPr lang="en-IN" smtClean="0"/>
              <a:t>08-10-2025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13CCB-6247-7D6E-F0CA-F57C87900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7F1AA-D6F8-D41F-B676-703BEE70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855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0A545-BAD0-8F84-3918-FCEC711FD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B1953B-8086-E86E-E7EF-3EA6873B3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B684F-814E-7C01-4300-2E0715F37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BF36-DF3C-45F3-9CCF-2AA1F36F2C6F}" type="datetime1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31A44-5360-00B0-82B2-BDA8CBE5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9F6D2-03AF-4D46-F832-34F9CEACC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088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05BC2E-F951-EA53-FA98-135EEBC063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B6C983-CA5F-C28B-C50C-142A994003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90DEA-FD26-14AA-C4CD-FFBC89605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93DB5-1F94-404F-8210-2480E02B0442}" type="datetime1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9310E-ABF1-0147-9EC0-6589C7F18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A2274-E8A2-5A88-0CF7-3B3A17A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795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0BBCE-7158-FCC4-A773-96708854B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60581-945E-3B17-39E0-5477C243B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B1034-1316-6253-3DEE-873920DB2F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78DCB-CDD8-426A-83A5-8C398F77A3DE}" type="datetime1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669C5-D919-C7B0-39B5-BE013FD6E3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5675E-974D-4698-4799-80E8C8884F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496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7933A7-B9F1-53BA-2D71-765F8210EB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682BC2-CC7C-2E3A-6BAD-8EC7434BF78C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7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D08097BC-AB6D-CE51-DF5F-1ADB5D444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896" y="63956"/>
            <a:ext cx="767685" cy="77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612EA54-8080-455F-091B-91210396D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84601"/>
              </p:ext>
            </p:extLst>
          </p:nvPr>
        </p:nvGraphicFramePr>
        <p:xfrm>
          <a:off x="919419" y="86417"/>
          <a:ext cx="10326214" cy="7642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326214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6980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3600" b="1" kern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SAI VIDYA INSTITUTE OF TECHNOLOGY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800" b="1" kern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Approved by AICTE, New Delhi, Affiliated to VTU, Recognized by Govt. of Karnataka, Accredited by NBA, New Delhi (CSE, ECE. ISE) NAAC "A" Grade</a:t>
                      </a:r>
                      <a:endParaRPr lang="en-IN" sz="1200" b="1" kern="1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45DD611-DCB9-E004-CD3D-C8A49C196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855347"/>
              </p:ext>
            </p:extLst>
          </p:nvPr>
        </p:nvGraphicFramePr>
        <p:xfrm>
          <a:off x="26536" y="1021902"/>
          <a:ext cx="12121919" cy="914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21919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800" b="1" kern="0" dirty="0">
                          <a:solidFill>
                            <a:schemeClr val="tx1"/>
                          </a:solidFill>
                          <a:effectLst/>
                          <a:latin typeface="Agency FB" panose="020B0503020202020204" pitchFamily="34" charset="0"/>
                        </a:rPr>
                        <a:t>DEPARTMENT OF COMPUTER SCIENCE AND ENGINEERING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000" b="1" kern="0" dirty="0">
                          <a:solidFill>
                            <a:schemeClr val="tx1"/>
                          </a:solidFill>
                          <a:effectLst/>
                          <a:latin typeface="Agency FB" panose="020B0503020202020204" pitchFamily="34" charset="0"/>
                        </a:rPr>
                        <a:t>BCS586: MINI PROJECT (TEAM 22)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5F3849C-5AC3-4C56-9E70-DCC699387A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001011"/>
              </p:ext>
            </p:extLst>
          </p:nvPr>
        </p:nvGraphicFramePr>
        <p:xfrm>
          <a:off x="70082" y="2552390"/>
          <a:ext cx="12023500" cy="5391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023500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5391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700" b="1" kern="0" dirty="0"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</a:rPr>
                        <a:t>A</a:t>
                      </a:r>
                      <a:r>
                        <a:rPr lang="en-IN" sz="2700" b="1" kern="0" dirty="0"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</a:rPr>
                        <a:t>I-Driven Decision Support Application for Veterinary Management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AA46C8B-6B63-AC65-6CC9-094946C9CF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662837"/>
              </p:ext>
            </p:extLst>
          </p:nvPr>
        </p:nvGraphicFramePr>
        <p:xfrm>
          <a:off x="222482" y="4118646"/>
          <a:ext cx="5568718" cy="17273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568718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6589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400" b="1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PRESENTED</a:t>
                      </a:r>
                      <a:r>
                        <a:rPr lang="en-IN" sz="2800" b="1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2400" b="1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</a:t>
                      </a:r>
                      <a:endParaRPr lang="en-IN" sz="2000" b="1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1800" b="1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MAHIMA K                        (1VA23CS092)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NIHARIKA M KODIGE   (1VA23CS105)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RANJANA H                      (1VA23CS129)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 PARKAVI                    (1VA23CS134)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FF79B35-BED4-3FE3-46A4-B19F1D87C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307995"/>
              </p:ext>
            </p:extLst>
          </p:nvPr>
        </p:nvGraphicFramePr>
        <p:xfrm>
          <a:off x="6525311" y="4194836"/>
          <a:ext cx="5568718" cy="13417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568718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6589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400" b="1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SUPERVISION OF,</a:t>
                      </a:r>
                      <a:endParaRPr lang="en-IN" sz="2000" b="1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1800" b="1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Dr. VARUN . E 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Associate Professor,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DEPT., OF CSE., SVIT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pic>
        <p:nvPicPr>
          <p:cNvPr id="2" name="Picture 4" descr="Sai Vidya Institute of Technology - Wikipedia">
            <a:extLst>
              <a:ext uri="{FF2B5EF4-FFF2-40B4-BE49-F238E27FC236}">
                <a16:creationId xmlns:a16="http://schemas.microsoft.com/office/drawing/2014/main" id="{DFAED524-517F-EF2E-7888-8A7BE0596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9" y="74842"/>
            <a:ext cx="767685" cy="767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VTU-Logo-250×250 – SJB INSTITUTE OF TECHNOLOGY">
            <a:extLst>
              <a:ext uri="{FF2B5EF4-FFF2-40B4-BE49-F238E27FC236}">
                <a16:creationId xmlns:a16="http://schemas.microsoft.com/office/drawing/2014/main" id="{2004FB7F-EF00-F30B-587C-C88DA4098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2235" y="852989"/>
            <a:ext cx="5678487" cy="5678487"/>
          </a:xfrm>
          <a:prstGeom prst="rect">
            <a:avLst/>
          </a:prstGeom>
          <a:noFill/>
          <a:ln>
            <a:noFill/>
          </a:ln>
          <a:effectLst>
            <a:outerShdw blurRad="1270000" dist="50800" dir="5400000" algn="ctr" rotWithShape="0">
              <a:srgbClr val="000000">
                <a:alpha val="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1D19A-DDE5-65FB-3D3B-BD0E5638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5255" y="6567061"/>
            <a:ext cx="2743200" cy="365125"/>
          </a:xfrm>
        </p:spPr>
        <p:txBody>
          <a:bodyPr/>
          <a:lstStyle/>
          <a:p>
            <a:fld id="{81A835E2-40D7-45A2-9147-8DCED05EC221}" type="slidenum">
              <a:rPr lang="en-IN" sz="2000" smtClean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</a:t>
            </a:fld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F17A46-AAC7-2F0A-6EBD-7B7F40651469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80847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48416-0A38-CA65-A2E3-A42F75B21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F21127-795F-9BF2-A50B-93BD5E9E25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580AC0-7723-D82B-BE59-695FE4D4B92B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accent2">
                    <a:lumMod val="50000"/>
                  </a:schemeClr>
                </a:solidFill>
                <a:latin typeface="Agency FB" panose="020B0503020202020204" pitchFamily="34" charset="0"/>
              </a:rPr>
              <a:t>OUTLINE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F17A46-AAC7-2F0A-6EBD-7B7F40651469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DEPARTMENT OF COMPUTER SCIENCE AND ENGINEERING </a:t>
            </a:r>
          </a:p>
        </p:txBody>
      </p:sp>
      <p:pic>
        <p:nvPicPr>
          <p:cNvPr id="1027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F5DB4B3B-6352-9FAB-BB3A-ADE43FA386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896" y="63956"/>
            <a:ext cx="767685" cy="77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1F18F90-D3E0-31B1-A2BE-E2EF261C7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575454"/>
              </p:ext>
            </p:extLst>
          </p:nvPr>
        </p:nvGraphicFramePr>
        <p:xfrm>
          <a:off x="446314" y="1021902"/>
          <a:ext cx="11266715" cy="531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66715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531358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IN" sz="28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marL="34290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à"/>
                      </a:pPr>
                      <a:r>
                        <a:rPr lang="en-IN" sz="28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INTRODUCTION</a:t>
                      </a:r>
                    </a:p>
                    <a:p>
                      <a:pPr marL="34290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à"/>
                      </a:pPr>
                      <a:r>
                        <a:rPr lang="en-IN" sz="28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ABSTRACT</a:t>
                      </a:r>
                    </a:p>
                    <a:p>
                      <a:pPr marL="34290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à"/>
                      </a:pPr>
                      <a:r>
                        <a:rPr lang="en-IN" sz="28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LITERATURE SURVEY</a:t>
                      </a:r>
                    </a:p>
                    <a:p>
                      <a:pPr marL="34290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à"/>
                      </a:pPr>
                      <a:r>
                        <a:rPr lang="en-IN" sz="28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PROBLEM STATEMENT</a:t>
                      </a:r>
                    </a:p>
                    <a:p>
                      <a:pPr marL="34290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à"/>
                      </a:pPr>
                      <a:r>
                        <a:rPr lang="en-IN" sz="28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OBJECTIVES</a:t>
                      </a:r>
                    </a:p>
                    <a:p>
                      <a:pPr marL="34290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à"/>
                      </a:pPr>
                      <a:r>
                        <a:rPr lang="en-IN" sz="28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PROPOSED METHODOLOGY</a:t>
                      </a:r>
                    </a:p>
                    <a:p>
                      <a:pPr marL="34290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à"/>
                      </a:pPr>
                      <a:r>
                        <a:rPr lang="en-IN" sz="28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EXPECTED OUTCOMES</a:t>
                      </a:r>
                    </a:p>
                    <a:p>
                      <a:pPr marL="34290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à"/>
                      </a:pPr>
                      <a:r>
                        <a:rPr lang="en-IN" sz="28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REFERENCES</a:t>
                      </a:r>
                    </a:p>
                    <a:p>
                      <a:pPr marL="34290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à"/>
                      </a:pPr>
                      <a:endParaRPr lang="en-IN" sz="28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marL="34290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à"/>
                      </a:pPr>
                      <a:endParaRPr lang="en-IN" sz="20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pic>
        <p:nvPicPr>
          <p:cNvPr id="3" name="Picture 4" descr="Sai Vidya Institute of Technology - Wikipedia">
            <a:extLst>
              <a:ext uri="{FF2B5EF4-FFF2-40B4-BE49-F238E27FC236}">
                <a16:creationId xmlns:a16="http://schemas.microsoft.com/office/drawing/2014/main" id="{62DF0E57-853D-C692-A085-085C8C886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9" y="74842"/>
            <a:ext cx="767685" cy="767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B00BAC-360D-1F73-32F5-03F60C994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67261"/>
            <a:ext cx="2743200" cy="365125"/>
          </a:xfrm>
        </p:spPr>
        <p:txBody>
          <a:bodyPr/>
          <a:lstStyle/>
          <a:p>
            <a:fld id="{81A835E2-40D7-45A2-9147-8DCED05EC221}" type="slidenum">
              <a:rPr lang="en-IN" sz="1800" smtClean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</a:t>
            </a:fld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20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48416-0A38-CA65-A2E3-A42F75B21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F21127-795F-9BF2-A50B-93BD5E9E25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580AC0-7723-D82B-BE59-695FE4D4B92B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accent2">
                    <a:lumMod val="50000"/>
                  </a:schemeClr>
                </a:solidFill>
                <a:latin typeface="Agency FB" panose="020B0503020202020204" pitchFamily="34" charset="0"/>
              </a:rPr>
              <a:t>ABSTRACT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F17A46-AAC7-2F0A-6EBD-7B7F40651469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DEPARTMENT OF COMPUTER SCIENCE AND ENGINEERING </a:t>
            </a:r>
          </a:p>
        </p:txBody>
      </p:sp>
      <p:pic>
        <p:nvPicPr>
          <p:cNvPr id="1027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F5DB4B3B-6352-9FAB-BB3A-ADE43FA386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896" y="63956"/>
            <a:ext cx="767685" cy="77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1F18F90-D3E0-31B1-A2BE-E2EF261C7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05095"/>
              </p:ext>
            </p:extLst>
          </p:nvPr>
        </p:nvGraphicFramePr>
        <p:xfrm>
          <a:off x="446314" y="1021902"/>
          <a:ext cx="11266715" cy="531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66715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5313584"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à"/>
                      </a:pPr>
                      <a:endParaRPr lang="en-US" sz="20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à"/>
                      </a:pPr>
                      <a:endParaRPr lang="en-US" sz="20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à"/>
                      </a:pPr>
                      <a:r>
                        <a:rPr lang="en-US" sz="20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project presents a smart veterinary management platform that integrates AI to streamline the handling of animal health records.</a:t>
                      </a: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à"/>
                      </a:pPr>
                      <a:endParaRPr lang="en-US" sz="20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à"/>
                      </a:pPr>
                      <a:r>
                        <a:rPr lang="en-US" sz="20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combines secure login, QR-based record retrieval, and real-time database updates to ensure efficient and accurate veterinary data management.</a:t>
                      </a: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à"/>
                      </a:pPr>
                      <a:endParaRPr lang="en-US" sz="20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à"/>
                      </a:pPr>
                      <a:r>
                        <a:rPr lang="en-US" sz="20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AI chatbot further enhances usability by offering instant assistance, enabling veterinarians to provide timely, effective, and data-driven animal care.</a:t>
                      </a:r>
                      <a:endParaRPr lang="en-IN" sz="20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pic>
        <p:nvPicPr>
          <p:cNvPr id="3" name="Picture 4" descr="Sai Vidya Institute of Technology - Wikipedia">
            <a:extLst>
              <a:ext uri="{FF2B5EF4-FFF2-40B4-BE49-F238E27FC236}">
                <a16:creationId xmlns:a16="http://schemas.microsoft.com/office/drawing/2014/main" id="{62DF0E57-853D-C692-A085-085C8C886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9" y="74842"/>
            <a:ext cx="767685" cy="767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B00BAC-360D-1F73-32F5-03F60C994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67261"/>
            <a:ext cx="2743200" cy="365125"/>
          </a:xfrm>
        </p:spPr>
        <p:txBody>
          <a:bodyPr/>
          <a:lstStyle/>
          <a:p>
            <a:fld id="{81A835E2-40D7-45A2-9147-8DCED05EC221}" type="slidenum">
              <a:rPr lang="en-IN" sz="1800" smtClean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</a:t>
            </a:fld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708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FC3DA-4098-AB4B-B0D4-584838580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69E825-90AF-BF95-D1BB-644029C501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1AD2CD-8E98-CBA4-D172-5CD65AE088F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accent2">
                    <a:lumMod val="50000"/>
                  </a:schemeClr>
                </a:solidFill>
                <a:latin typeface="Agency FB" panose="020B0503020202020204" pitchFamily="34" charset="0"/>
              </a:rPr>
              <a:t>INTRODUCTION</a:t>
            </a:r>
          </a:p>
        </p:txBody>
      </p:sp>
      <p:pic>
        <p:nvPicPr>
          <p:cNvPr id="1027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51DD1674-F380-896F-6F1E-10F3C29B2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896" y="63956"/>
            <a:ext cx="767685" cy="77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B11EE45-309D-8F84-D760-FCBB89295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918859"/>
              </p:ext>
            </p:extLst>
          </p:nvPr>
        </p:nvGraphicFramePr>
        <p:xfrm>
          <a:off x="452284" y="1021902"/>
          <a:ext cx="11260745" cy="54800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60745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5480044">
                <a:tc>
                  <a:txBody>
                    <a:bodyPr/>
                    <a:lstStyle/>
                    <a:p>
                      <a:pPr algn="just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algn="just"/>
                      <a:endParaRPr 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en-US" sz="28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Introduction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</a:t>
                      </a:r>
                      <a:r>
                        <a:rPr lang="en-US" sz="28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AI-Driven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Veterinary Management System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US" sz="22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an AI-powered veterinary management website to modernize and simplify animal healthcare management.</a:t>
                      </a: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US" sz="22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doctor login and allows instant access to animal health records using a unique ID or QR code.</a:t>
                      </a: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US" sz="22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Features a centralized database for real-time updates of vaccinations, treatments, and medical histories</a:t>
                      </a: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US" sz="22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Includes an AI chatbot assistant to guide doctors.</a:t>
                      </a: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US" sz="22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Enhances data accuracy and reduces manual workload, helping veterinarians deliver faster and more reliable care.</a:t>
                      </a:r>
                      <a:endParaRPr lang="en-IN" sz="22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pic>
        <p:nvPicPr>
          <p:cNvPr id="3" name="Picture 4" descr="Sai Vidya Institute of Technology - Wikipedia">
            <a:extLst>
              <a:ext uri="{FF2B5EF4-FFF2-40B4-BE49-F238E27FC236}">
                <a16:creationId xmlns:a16="http://schemas.microsoft.com/office/drawing/2014/main" id="{18B6B73F-70F8-577B-812E-17FE8008F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9" y="74842"/>
            <a:ext cx="767685" cy="767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903E62-C2B3-09AD-FE1A-409F10A04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78146"/>
            <a:ext cx="2743200" cy="365125"/>
          </a:xfrm>
        </p:spPr>
        <p:txBody>
          <a:bodyPr/>
          <a:lstStyle/>
          <a:p>
            <a:fld id="{81A835E2-40D7-45A2-9147-8DCED05EC221}" type="slidenum">
              <a:rPr lang="en-IN" sz="1800" smtClean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</a:t>
            </a:fld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F17A46-AAC7-2F0A-6EBD-7B7F40651469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DEPARTMENT OF COMPUTER SCIENCE AND ENGINEERING </a:t>
            </a:r>
          </a:p>
        </p:txBody>
      </p:sp>
    </p:spTree>
    <p:extLst>
      <p:ext uri="{BB962C8B-B14F-4D97-AF65-F5344CB8AC3E}">
        <p14:creationId xmlns:p14="http://schemas.microsoft.com/office/powerpoint/2010/main" val="4264305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61532-DECA-7A7B-FD2D-7EB1FCBEF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F8A2B1-8814-7D72-C376-F3C327D619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F33845-FF1B-AE41-51EF-4AB7EC3DBBAF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accent2">
                    <a:lumMod val="50000"/>
                  </a:schemeClr>
                </a:solidFill>
                <a:latin typeface="Agency FB" panose="020B0503020202020204" pitchFamily="34" charset="0"/>
              </a:rPr>
              <a:t>LITERATURE SURVEY</a:t>
            </a:r>
          </a:p>
        </p:txBody>
      </p:sp>
      <p:pic>
        <p:nvPicPr>
          <p:cNvPr id="1027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B77E9652-E1DB-98EF-40F6-54BC8AB10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896" y="63956"/>
            <a:ext cx="767685" cy="77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1E59FF7-BB7A-AD96-F2EC-56698AB66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193874"/>
              </p:ext>
            </p:extLst>
          </p:nvPr>
        </p:nvGraphicFramePr>
        <p:xfrm>
          <a:off x="98419" y="1021902"/>
          <a:ext cx="11995161" cy="531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95161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531358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IN" sz="2000" b="0" kern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sym typeface="Wingdings" panose="05000000000000000000" pitchFamily="2" charset="2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pic>
        <p:nvPicPr>
          <p:cNvPr id="3" name="Picture 4" descr="Sai Vidya Institute of Technology - Wikipedia">
            <a:extLst>
              <a:ext uri="{FF2B5EF4-FFF2-40B4-BE49-F238E27FC236}">
                <a16:creationId xmlns:a16="http://schemas.microsoft.com/office/drawing/2014/main" id="{F50EB244-B90C-6B27-27F1-6E98BBC12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9" y="74842"/>
            <a:ext cx="767685" cy="767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241AEE-6810-60B2-F942-BB55638DC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78146"/>
            <a:ext cx="2743200" cy="365125"/>
          </a:xfrm>
        </p:spPr>
        <p:txBody>
          <a:bodyPr/>
          <a:lstStyle/>
          <a:p>
            <a:fld id="{81A835E2-40D7-45A2-9147-8DCED05EC221}" type="slidenum">
              <a:rPr lang="en-IN" sz="1800" smtClean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</a:t>
            </a:fld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F17A46-AAC7-2F0A-6EBD-7B7F40651469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DEPARTMENT OF COMPUTER SCIENCE AND ENGINEERING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86548"/>
              </p:ext>
            </p:extLst>
          </p:nvPr>
        </p:nvGraphicFramePr>
        <p:xfrm>
          <a:off x="167951" y="1021900"/>
          <a:ext cx="11812555" cy="531358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42325">
                  <a:extLst>
                    <a:ext uri="{9D8B030D-6E8A-4147-A177-3AD203B41FA5}">
                      <a16:colId xmlns:a16="http://schemas.microsoft.com/office/drawing/2014/main" val="2112659579"/>
                    </a:ext>
                  </a:extLst>
                </a:gridCol>
                <a:gridCol w="3687320">
                  <a:extLst>
                    <a:ext uri="{9D8B030D-6E8A-4147-A177-3AD203B41FA5}">
                      <a16:colId xmlns:a16="http://schemas.microsoft.com/office/drawing/2014/main" val="991465705"/>
                    </a:ext>
                  </a:extLst>
                </a:gridCol>
                <a:gridCol w="4376218">
                  <a:extLst>
                    <a:ext uri="{9D8B030D-6E8A-4147-A177-3AD203B41FA5}">
                      <a16:colId xmlns:a16="http://schemas.microsoft.com/office/drawing/2014/main" val="6135278"/>
                    </a:ext>
                  </a:extLst>
                </a:gridCol>
                <a:gridCol w="3306692">
                  <a:extLst>
                    <a:ext uri="{9D8B030D-6E8A-4147-A177-3AD203B41FA5}">
                      <a16:colId xmlns:a16="http://schemas.microsoft.com/office/drawing/2014/main" val="686434201"/>
                    </a:ext>
                  </a:extLst>
                </a:gridCol>
              </a:tblGrid>
              <a:tr h="973762">
                <a:tc>
                  <a:txBody>
                    <a:bodyPr/>
                    <a:lstStyle/>
                    <a:p>
                      <a:r>
                        <a:rPr lang="en-IN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r>
                        <a:rPr lang="en-IN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Authors Name, Paper Journal name and Year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r>
                        <a:rPr lang="en-IN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/Algorithm/Technology used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578973"/>
                  </a:ext>
                </a:extLst>
              </a:tr>
              <a:tr h="15114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“Advancements in Immunization Management for Personalized Vaccine Scheduling with </a:t>
                      </a:r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IoT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and Machine </a:t>
                      </a:r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Learning”</a:t>
                      </a:r>
                      <a:r>
                        <a:rPr lang="en-IN" sz="16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Dr</a:t>
                      </a: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 M. </a:t>
                      </a:r>
                      <a:r>
                        <a:rPr lang="en-IN" sz="16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Madheswaran</a:t>
                      </a: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et </a:t>
                      </a:r>
                      <a:r>
                        <a:rPr lang="en-IN" sz="16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al.</a:t>
                      </a:r>
                      <a:r>
                        <a:rPr lang="en-IN" sz="1600" i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IEEE</a:t>
                      </a:r>
                      <a:r>
                        <a:rPr lang="en-IN" sz="160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ICCSP, 2024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IN" sz="16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IoT</a:t>
                      </a: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devices for real-time health data.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Decision Tree algorithm for vaccine scheduling.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Machine learning for predictive recommendations.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Use genetic and immune data for predictions.</a:t>
                      </a:r>
                    </a:p>
                    <a:p>
                      <a:pPr algn="just"/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Apply decentralized digital health records.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243704"/>
                  </a:ext>
                </a:extLst>
              </a:tr>
              <a:tr h="141420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“AI Veterinary Assistance: Enhancing Clinical Decision-Making in Animal </a:t>
                      </a:r>
                      <a:r>
                        <a:rPr lang="en-IN" sz="160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Healthcare”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Youn-Gyu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Jin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et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al.</a:t>
                      </a:r>
                      <a:r>
                        <a:rPr lang="en-IN" sz="16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IEEE</a:t>
                      </a:r>
                      <a:r>
                        <a:rPr lang="en-IN" sz="16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Access, 2025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285750" lvl="0" indent="-28575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AI Veterinary Assistance (AVA) using GPT-4o LLM.</a:t>
                      </a:r>
                    </a:p>
                    <a:p>
                      <a:pPr marL="285750" lvl="0" indent="-28575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Symptom extraction via in-context learning.</a:t>
                      </a:r>
                    </a:p>
                    <a:p>
                      <a:pPr marL="285750" lvl="0" indent="-28575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Disease prediction using symptom database.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Improve accuracy for varied language input.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Develop specialized veterinary LLMs.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048499091"/>
                  </a:ext>
                </a:extLst>
              </a:tr>
              <a:tr h="1414206"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“Cloud </a:t>
                      </a:r>
                      <a:r>
                        <a:rPr lang="en-IN" sz="160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IoT</a:t>
                      </a: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Based Surveillance System for Tracking and Monitoring of Domestic </a:t>
                      </a:r>
                      <a:r>
                        <a:rPr lang="en-IN" sz="160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Animals”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Ande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NagaSai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Manikanta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et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al.</a:t>
                      </a:r>
                      <a:r>
                        <a:rPr lang="en-IN" sz="16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IEEE</a:t>
                      </a:r>
                      <a:r>
                        <a:rPr lang="en-IN" sz="16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ICICACS, 2024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IoT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sensors (LM35, MAX30100, GPS) with Arduino.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Cloud data storage and GSM alerts.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animal health tracking.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Add advanced ML for pattern analysis.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Expand to multiple animal species.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42633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8490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61532-DECA-7A7B-FD2D-7EB1FCBEF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F8A2B1-8814-7D72-C376-F3C327D619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F33845-FF1B-AE41-51EF-4AB7EC3DBBAF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accent2">
                    <a:lumMod val="50000"/>
                  </a:schemeClr>
                </a:solidFill>
                <a:latin typeface="Agency FB" panose="020B0503020202020204" pitchFamily="34" charset="0"/>
              </a:rPr>
              <a:t>LITERATURE SURVEY</a:t>
            </a:r>
          </a:p>
        </p:txBody>
      </p:sp>
      <p:pic>
        <p:nvPicPr>
          <p:cNvPr id="1027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B77E9652-E1DB-98EF-40F6-54BC8AB10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896" y="63956"/>
            <a:ext cx="767685" cy="77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1E59FF7-BB7A-AD96-F2EC-56698AB66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193874"/>
              </p:ext>
            </p:extLst>
          </p:nvPr>
        </p:nvGraphicFramePr>
        <p:xfrm>
          <a:off x="98419" y="1021902"/>
          <a:ext cx="11995161" cy="531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95161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531358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IN" sz="2000" b="0" kern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sym typeface="Wingdings" panose="05000000000000000000" pitchFamily="2" charset="2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pic>
        <p:nvPicPr>
          <p:cNvPr id="3" name="Picture 4" descr="Sai Vidya Institute of Technology - Wikipedia">
            <a:extLst>
              <a:ext uri="{FF2B5EF4-FFF2-40B4-BE49-F238E27FC236}">
                <a16:creationId xmlns:a16="http://schemas.microsoft.com/office/drawing/2014/main" id="{F50EB244-B90C-6B27-27F1-6E98BBC12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9" y="74842"/>
            <a:ext cx="767685" cy="767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241AEE-6810-60B2-F942-BB55638DC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78146"/>
            <a:ext cx="2743200" cy="365125"/>
          </a:xfrm>
        </p:spPr>
        <p:txBody>
          <a:bodyPr/>
          <a:lstStyle/>
          <a:p>
            <a:fld id="{81A835E2-40D7-45A2-9147-8DCED05EC221}" type="slidenum">
              <a:rPr lang="en-IN" sz="1800" smtClean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6</a:t>
            </a:fld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F17A46-AAC7-2F0A-6EBD-7B7F40651469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DEPARTMENT OF COMPUTER SCIENCE AND ENGINEERING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747383"/>
              </p:ext>
            </p:extLst>
          </p:nvPr>
        </p:nvGraphicFramePr>
        <p:xfrm>
          <a:off x="167951" y="1021900"/>
          <a:ext cx="11812555" cy="531358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42325">
                  <a:extLst>
                    <a:ext uri="{9D8B030D-6E8A-4147-A177-3AD203B41FA5}">
                      <a16:colId xmlns:a16="http://schemas.microsoft.com/office/drawing/2014/main" val="2112659579"/>
                    </a:ext>
                  </a:extLst>
                </a:gridCol>
                <a:gridCol w="3687320">
                  <a:extLst>
                    <a:ext uri="{9D8B030D-6E8A-4147-A177-3AD203B41FA5}">
                      <a16:colId xmlns:a16="http://schemas.microsoft.com/office/drawing/2014/main" val="991465705"/>
                    </a:ext>
                  </a:extLst>
                </a:gridCol>
                <a:gridCol w="4376218">
                  <a:extLst>
                    <a:ext uri="{9D8B030D-6E8A-4147-A177-3AD203B41FA5}">
                      <a16:colId xmlns:a16="http://schemas.microsoft.com/office/drawing/2014/main" val="6135278"/>
                    </a:ext>
                  </a:extLst>
                </a:gridCol>
                <a:gridCol w="3306692">
                  <a:extLst>
                    <a:ext uri="{9D8B030D-6E8A-4147-A177-3AD203B41FA5}">
                      <a16:colId xmlns:a16="http://schemas.microsoft.com/office/drawing/2014/main" val="686434201"/>
                    </a:ext>
                  </a:extLst>
                </a:gridCol>
              </a:tblGrid>
              <a:tr h="973762">
                <a:tc>
                  <a:txBody>
                    <a:bodyPr/>
                    <a:lstStyle/>
                    <a:p>
                      <a:r>
                        <a:rPr lang="en-IN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r>
                        <a:rPr lang="en-IN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Authors Name, Paper Journal name and Year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r>
                        <a:rPr lang="en-IN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/Algorithm/Technology used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578973"/>
                  </a:ext>
                </a:extLst>
              </a:tr>
              <a:tr h="15114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AI-Powered Veterinary </a:t>
                      </a:r>
                      <a:r>
                        <a:rPr lang="en-IN" sz="160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Chatbot</a:t>
                      </a: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for Automated Diagnosis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Prashanna</a:t>
                      </a:r>
                      <a:r>
                        <a:rPr lang="en-IN" sz="16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J, </a:t>
                      </a:r>
                      <a:r>
                        <a:rPr lang="en-IN" sz="16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Dr.</a:t>
                      </a:r>
                      <a:r>
                        <a:rPr lang="en-IN" sz="16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Vanita</a:t>
                      </a:r>
                      <a:r>
                        <a:rPr lang="en-IN" sz="16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Jaitly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ICICT 2025, IEEE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ML (SVM, Decision Tree) for disease detection 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NLP + Google API (TTS) for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chatbot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- Data mining for learning &amp; insights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Expand dataset for better accuracy 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Add multilingual support - Integrate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IoT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pet health tracking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553243704"/>
                  </a:ext>
                </a:extLst>
              </a:tr>
              <a:tr h="141420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Veterinary Medical Records Application using AWS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Dr.</a:t>
                      </a:r>
                      <a:r>
                        <a:rPr lang="en-IN" sz="16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Deepika</a:t>
                      </a:r>
                      <a:r>
                        <a:rPr lang="en-IN" sz="16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i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Soni</a:t>
                      </a:r>
                      <a:r>
                        <a:rPr lang="en-IN" sz="16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et al.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ICMCSI 2024, IEEE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AWS 3-tier web architecture 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EC2, Lambda, S3, RDS,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CloudFront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Serverless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backend with API Gateway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Add mobile app features 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Include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IoT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/microchip data 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Improve interface usability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048499091"/>
                  </a:ext>
                </a:extLst>
              </a:tr>
              <a:tr h="1414206"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Web-Based Veterinary Clinic with e-Mail and SMS Notification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Samuel S. Chua et al.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ICBIR 2024, IEEE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Web app using PHP, MySQL, XAMPP 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Waterfall SDLC model 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Auto e-mail &amp; SMS alerts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Enhance site security 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Add AI for reminders 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Support image attachments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42633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2288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968D5-3403-686C-6CDF-BB1FD379F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A89F48-553A-6825-0415-6440D580BE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E5A0CF-AF65-16EB-1201-D9FDA3B9210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accent2">
                    <a:lumMod val="50000"/>
                  </a:schemeClr>
                </a:solidFill>
                <a:latin typeface="Agency FB" panose="020B0503020202020204" pitchFamily="34" charset="0"/>
              </a:rPr>
              <a:t>PROBLEM STATEMENT</a:t>
            </a:r>
          </a:p>
        </p:txBody>
      </p:sp>
      <p:pic>
        <p:nvPicPr>
          <p:cNvPr id="1027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8198715B-9ED0-9D08-BA4B-F326720A6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896" y="63956"/>
            <a:ext cx="767685" cy="77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11BD376-E5B5-CF79-FD71-A2F60FD26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820489"/>
              </p:ext>
            </p:extLst>
          </p:nvPr>
        </p:nvGraphicFramePr>
        <p:xfrm>
          <a:off x="446314" y="1021902"/>
          <a:ext cx="11266715" cy="531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66715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5313584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à"/>
                        <a:tabLst/>
                        <a:defRPr/>
                      </a:pPr>
                      <a:endParaRPr lang="en-IN" sz="32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32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To Design and Implement an intelligent veterinary management system that leverages Artificial Intelligence and data-driven decision-making to streamline medical record management, support accurate health monitoring, and enable timely interventions for animals.</a:t>
                      </a:r>
                    </a:p>
                    <a:p>
                      <a:pPr marL="34290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à"/>
                      </a:pPr>
                      <a:endParaRPr lang="en-US" sz="18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pic>
        <p:nvPicPr>
          <p:cNvPr id="2" name="Picture 4" descr="Sai Vidya Institute of Technology - Wikipedia">
            <a:extLst>
              <a:ext uri="{FF2B5EF4-FFF2-40B4-BE49-F238E27FC236}">
                <a16:creationId xmlns:a16="http://schemas.microsoft.com/office/drawing/2014/main" id="{B1837CA8-74BB-9304-B493-955937EEF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9" y="74842"/>
            <a:ext cx="767685" cy="767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ACB4A7-D49A-0FD4-18E3-FF257313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00377"/>
            <a:ext cx="2743200" cy="365125"/>
          </a:xfrm>
        </p:spPr>
        <p:txBody>
          <a:bodyPr/>
          <a:lstStyle/>
          <a:p>
            <a:fld id="{81A835E2-40D7-45A2-9147-8DCED05EC221}" type="slidenum">
              <a:rPr lang="en-IN" sz="1600" smtClean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7</a:t>
            </a:fld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F17A46-AAC7-2F0A-6EBD-7B7F40651469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DEPARTMENT OF COMPUTER SCIENCE AND ENGINEERING </a:t>
            </a:r>
          </a:p>
        </p:txBody>
      </p:sp>
    </p:spTree>
    <p:extLst>
      <p:ext uri="{BB962C8B-B14F-4D97-AF65-F5344CB8AC3E}">
        <p14:creationId xmlns:p14="http://schemas.microsoft.com/office/powerpoint/2010/main" val="4030436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3B0FD-FCDD-CBA7-927B-41194E616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9844F5-1C6D-4D7A-9C97-279393E7DC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5434E0-E957-2F87-85B3-FF9895F7134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accent2">
                    <a:lumMod val="50000"/>
                  </a:schemeClr>
                </a:solidFill>
                <a:latin typeface="Agency FB" panose="020B0503020202020204" pitchFamily="34" charset="0"/>
              </a:rPr>
              <a:t>OBJECTIVES</a:t>
            </a:r>
          </a:p>
        </p:txBody>
      </p:sp>
      <p:pic>
        <p:nvPicPr>
          <p:cNvPr id="1027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490A94DC-E3CC-30E1-1E1E-D01C911E8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896" y="63956"/>
            <a:ext cx="767685" cy="77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DEC948D-D156-4E00-CD73-2E34CB685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882220"/>
              </p:ext>
            </p:extLst>
          </p:nvPr>
        </p:nvGraphicFramePr>
        <p:xfrm>
          <a:off x="446314" y="1021902"/>
          <a:ext cx="11266715" cy="531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66715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5313584"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endParaRPr lang="en-IN" sz="2000" b="0" kern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sym typeface="Wingdings" panose="05000000000000000000" pitchFamily="2" charset="2"/>
                      </a:endParaRP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endParaRPr lang="en-IN" sz="2000" b="0" kern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sym typeface="Wingdings" panose="05000000000000000000" pitchFamily="2" charset="2"/>
                      </a:endParaRP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Create a user-friendly and responsive platform that works seamlessly across devices, making it easy for veterinarians to manage health records.</a:t>
                      </a:r>
                      <a:endParaRPr lang="en-IN" sz="22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endParaRPr lang="en-IN" sz="2200" b="0" kern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sym typeface="Wingdings" panose="05000000000000000000" pitchFamily="2" charset="2"/>
                      </a:endParaRP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IN" sz="2200" b="0" kern="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2. </a:t>
                      </a: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 a secure and efficient backend database system to store, update, and retrieve veterinary medical data quickly and reliably.</a:t>
                      </a:r>
                      <a:endParaRPr lang="en-IN" sz="22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marL="0" indent="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IN" sz="2200" b="0" kern="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sym typeface="Wingdings" panose="05000000000000000000" pitchFamily="2" charset="2"/>
                      </a:endParaRP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Develop and integrate AI tools that analyze animal health data to support smarter decisions in diagnosis, treatment, and prevention while continuously improving the system through real-time testing and expert feedback.</a:t>
                      </a:r>
                      <a:endParaRPr lang="en-IN" sz="22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à"/>
                      </a:pPr>
                      <a:endParaRPr lang="en-IN" sz="2000" b="1" kern="0" dirty="0">
                        <a:solidFill>
                          <a:schemeClr val="tx1"/>
                        </a:solidFill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pic>
        <p:nvPicPr>
          <p:cNvPr id="2" name="Picture 4" descr="Sai Vidya Institute of Technology - Wikipedia">
            <a:extLst>
              <a:ext uri="{FF2B5EF4-FFF2-40B4-BE49-F238E27FC236}">
                <a16:creationId xmlns:a16="http://schemas.microsoft.com/office/drawing/2014/main" id="{26466903-8029-D4BA-4E3F-F342A9CE9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9" y="74842"/>
            <a:ext cx="767685" cy="767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4FB134-053B-7B03-CB39-35E0C59DD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69754"/>
            <a:ext cx="2743200" cy="365125"/>
          </a:xfrm>
        </p:spPr>
        <p:txBody>
          <a:bodyPr/>
          <a:lstStyle/>
          <a:p>
            <a:fld id="{81A835E2-40D7-45A2-9147-8DCED05EC221}" type="slidenum">
              <a:rPr lang="en-IN" sz="1800" smtClean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8</a:t>
            </a:fld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F17A46-AAC7-2F0A-6EBD-7B7F40651469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DEPARTMENT OF COMPUTER SCIENCE AND ENGINEERING </a:t>
            </a:r>
          </a:p>
        </p:txBody>
      </p:sp>
    </p:spTree>
    <p:extLst>
      <p:ext uri="{BB962C8B-B14F-4D97-AF65-F5344CB8AC3E}">
        <p14:creationId xmlns:p14="http://schemas.microsoft.com/office/powerpoint/2010/main" val="3375130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E67B7-4FB4-CC9A-F5E5-77EE39EE3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8022D69-79C6-2A11-740C-27DEC0C17C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61F859-85C3-87C3-4736-9091F8C62F8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accent2">
                    <a:lumMod val="50000"/>
                  </a:schemeClr>
                </a:solidFill>
                <a:latin typeface="Agency FB" panose="020B0503020202020204" pitchFamily="34" charset="0"/>
              </a:rPr>
              <a:t>PROPOSED METHODOLOGY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F71547-864F-45CC-87F5-8FF410240468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DEPARTMENT OF COMPUTER SCIENCE AND ENGINEERING- ARTIFICIAL INTELLIGENCE &amp; MACHINE LEARNING</a:t>
            </a:r>
          </a:p>
        </p:txBody>
      </p:sp>
      <p:pic>
        <p:nvPicPr>
          <p:cNvPr id="1027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CC976609-9137-F375-9BF3-777699857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896" y="63956"/>
            <a:ext cx="767685" cy="77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2123AFA-660C-DF00-72F6-F60478ED2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575616"/>
              </p:ext>
            </p:extLst>
          </p:nvPr>
        </p:nvGraphicFramePr>
        <p:xfrm>
          <a:off x="446314" y="1021902"/>
          <a:ext cx="11266715" cy="531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66715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5313584"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US" sz="19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the application, veterinary doctors serve as the main users, while the</a:t>
                      </a:r>
                      <a:r>
                        <a:rPr lang="en-US" sz="1900" b="0" kern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9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assistant functions as a supportive tool to assist in diagnosis.</a:t>
                      </a: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endParaRPr lang="en-US" sz="19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US" sz="19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a structured database with tables for animals, and their health history to ensure easy retrieval of data. </a:t>
                      </a: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endParaRPr lang="en-US" sz="19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US" sz="19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core modules including:</a:t>
                      </a:r>
                      <a:r>
                        <a:rPr lang="en-US" sz="1900" b="0" kern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914400" lvl="1" indent="-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9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Doctor Module</a:t>
                      </a:r>
                      <a:r>
                        <a:rPr lang="en-US" sz="1900" b="0" kern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sz="19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login.</a:t>
                      </a:r>
                    </a:p>
                    <a:p>
                      <a:pPr marL="914400" lvl="1" indent="-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9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Animal Module</a:t>
                      </a:r>
                      <a:r>
                        <a:rPr lang="en-US" sz="1900" b="0" kern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</a:t>
                      </a:r>
                      <a:r>
                        <a:rPr lang="en-US" sz="19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assign unique IDs and QR codes for each animal.</a:t>
                      </a:r>
                    </a:p>
                    <a:p>
                      <a:pPr marL="914400" lvl="1" indent="-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9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 Record Module</a:t>
                      </a:r>
                      <a:r>
                        <a:rPr lang="en-US" sz="1900" b="0" kern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sz="19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managing vaccination history, symptoms, and treatments.</a:t>
                      </a:r>
                    </a:p>
                    <a:p>
                      <a:pPr marL="457200" lvl="1" indent="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endParaRPr lang="en-US" sz="19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US" sz="19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and Decision Support Integration</a:t>
                      </a:r>
                      <a:r>
                        <a:rPr lang="en-US" sz="1900" b="0" kern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</a:t>
                      </a:r>
                      <a:r>
                        <a:rPr lang="en-US" sz="19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mplement rule-based AI algorithms to analyze symptoms, suggest probable diagnoses, and guide basic remedies.</a:t>
                      </a: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endParaRPr lang="en-US" sz="19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US" sz="19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Notifications and Monitoring</a:t>
                      </a:r>
                      <a:r>
                        <a:rPr lang="en-US" sz="1900" b="0" kern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9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 real-time notifications for doctor availability, clinic hours, ambulance numbers, and important updates like upcoming holidays or vaccination reminders.</a:t>
                      </a:r>
                      <a:endParaRPr lang="en-IN" sz="19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endParaRPr lang="en-IN" sz="1400" b="0" kern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sym typeface="Wingdings" panose="05000000000000000000" pitchFamily="2" charset="2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pic>
        <p:nvPicPr>
          <p:cNvPr id="2" name="Picture 4" descr="Sai Vidya Institute of Technology - Wikipedia">
            <a:extLst>
              <a:ext uri="{FF2B5EF4-FFF2-40B4-BE49-F238E27FC236}">
                <a16:creationId xmlns:a16="http://schemas.microsoft.com/office/drawing/2014/main" id="{56B2F8D7-0469-65D9-ED00-86A85DDA3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9" y="74842"/>
            <a:ext cx="767685" cy="767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E3593C-9013-6472-9966-2896F2DD2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0381" y="6578146"/>
            <a:ext cx="2743200" cy="365125"/>
          </a:xfrm>
        </p:spPr>
        <p:txBody>
          <a:bodyPr/>
          <a:lstStyle/>
          <a:p>
            <a:fld id="{81A835E2-40D7-45A2-9147-8DCED05EC221}" type="slidenum">
              <a:rPr lang="en-IN" sz="1800" smtClean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9</a:t>
            </a:fld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132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968D5-3403-686C-6CDF-BB1FD379F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A89F48-553A-6825-0415-6440D580BE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E5A0CF-AF65-16EB-1201-D9FDA3B9210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accent2">
                    <a:lumMod val="50000"/>
                  </a:schemeClr>
                </a:solidFill>
                <a:latin typeface="Agency FB" panose="020B0503020202020204" pitchFamily="34" charset="0"/>
              </a:rPr>
              <a:t>PROPOSED METHODOLOGY</a:t>
            </a:r>
          </a:p>
        </p:txBody>
      </p:sp>
      <p:pic>
        <p:nvPicPr>
          <p:cNvPr id="1027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8198715B-9ED0-9D08-BA4B-F326720A6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896" y="63956"/>
            <a:ext cx="767685" cy="77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11BD376-E5B5-CF79-FD71-A2F60FD26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237965"/>
              </p:ext>
            </p:extLst>
          </p:nvPr>
        </p:nvGraphicFramePr>
        <p:xfrm>
          <a:off x="446314" y="1021902"/>
          <a:ext cx="11266715" cy="531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66715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531358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US" sz="18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pic>
        <p:nvPicPr>
          <p:cNvPr id="2" name="Picture 4" descr="Sai Vidya Institute of Technology - Wikipedia">
            <a:extLst>
              <a:ext uri="{FF2B5EF4-FFF2-40B4-BE49-F238E27FC236}">
                <a16:creationId xmlns:a16="http://schemas.microsoft.com/office/drawing/2014/main" id="{B1837CA8-74BB-9304-B493-955937EEF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9" y="74842"/>
            <a:ext cx="767685" cy="767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ACB4A7-D49A-0FD4-18E3-FF257313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00377"/>
            <a:ext cx="2743200" cy="365125"/>
          </a:xfrm>
        </p:spPr>
        <p:txBody>
          <a:bodyPr/>
          <a:lstStyle/>
          <a:p>
            <a:fld id="{81A835E2-40D7-45A2-9147-8DCED05EC221}" type="slidenum">
              <a:rPr lang="en-IN" sz="1600" smtClean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10</a:t>
            </a:fld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F17A46-AAC7-2F0A-6EBD-7B7F40651469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DEPARTMENT OF COMPUTER SCIENCE AND ENGINEERING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1"/>
          <a:stretch/>
        </p:blipFill>
        <p:spPr>
          <a:xfrm rot="16200000">
            <a:off x="3594273" y="-1252225"/>
            <a:ext cx="4816841" cy="963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88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88E00-F0C0-449A-5FAF-E6C24FDBB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B42631-C327-0F45-252A-ABD697733D2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79F087-5181-D311-649F-0267D0AABF1B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Agency FB" panose="020B0503020202020204" pitchFamily="34" charset="0"/>
              </a:rPr>
              <a:t>TECHNOLOGY USED</a:t>
            </a:r>
            <a:endParaRPr lang="en-IN" sz="4400" b="1" dirty="0">
              <a:solidFill>
                <a:schemeClr val="accent2">
                  <a:lumMod val="50000"/>
                </a:schemeClr>
              </a:solidFill>
              <a:latin typeface="Agency FB" panose="020B0503020202020204" pitchFamily="34" charset="0"/>
            </a:endParaRPr>
          </a:p>
        </p:txBody>
      </p:sp>
      <p:pic>
        <p:nvPicPr>
          <p:cNvPr id="1027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77550FCB-9B65-D70B-9AA0-286A613D2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896" y="63956"/>
            <a:ext cx="767685" cy="77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9A21F0D-3E83-E9ED-C6EB-BCD0CDDC80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771877"/>
              </p:ext>
            </p:extLst>
          </p:nvPr>
        </p:nvGraphicFramePr>
        <p:xfrm>
          <a:off x="446314" y="1021902"/>
          <a:ext cx="11266715" cy="531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66715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5313584">
                <a:tc>
                  <a:txBody>
                    <a:bodyPr/>
                    <a:lstStyle/>
                    <a:p>
                      <a:pPr algn="just"/>
                      <a:endParaRPr lang="en-IN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indent="-457200" algn="just">
                        <a:buFont typeface="+mj-lt"/>
                        <a:buAutoNum type="arabicPeriod"/>
                      </a:pPr>
                      <a:r>
                        <a:rPr lang="en-IN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(Open Source): Core backend programming language for logic handling and future AI model integration.</a:t>
                      </a:r>
                    </a:p>
                    <a:p>
                      <a:pPr marL="457200" indent="-457200" algn="just">
                        <a:buFont typeface="+mj-lt"/>
                        <a:buAutoNum type="arabicPeriod"/>
                      </a:pPr>
                      <a:endParaRPr lang="en-IN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indent="-457200" algn="just">
                        <a:buFont typeface="+mj-lt"/>
                        <a:buAutoNum type="arabicPeriod"/>
                      </a:pPr>
                      <a:r>
                        <a:rPr lang="en-IN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Flask Framework (Open Source): Lightweight web framework to manage routes, APIs, and backend communication.</a:t>
                      </a:r>
                    </a:p>
                    <a:p>
                      <a:pPr marL="457200" indent="-457200" algn="just">
                        <a:buFont typeface="+mj-lt"/>
                        <a:buAutoNum type="arabicPeriod"/>
                      </a:pPr>
                      <a:endParaRPr lang="en-IN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indent="-457200" algn="just">
                        <a:buFont typeface="+mj-lt"/>
                        <a:buAutoNum type="arabicPeriod"/>
                      </a:pPr>
                      <a:r>
                        <a:rPr lang="en-IN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SQLite with </a:t>
                      </a:r>
                      <a:r>
                        <a:rPr lang="en-IN" sz="24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SQLAlchemy</a:t>
                      </a:r>
                      <a:r>
                        <a:rPr lang="en-IN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(Open Source): Handles structured data storage and ORM-based database interactions.</a:t>
                      </a:r>
                    </a:p>
                    <a:p>
                      <a:pPr marL="457200" indent="-457200" algn="just">
                        <a:buFont typeface="+mj-lt"/>
                        <a:buAutoNum type="arabicPeriod"/>
                      </a:pPr>
                      <a:endParaRPr lang="en-IN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indent="-457200" algn="just">
                        <a:buFont typeface="+mj-lt"/>
                        <a:buAutoNum type="arabicPeriod"/>
                      </a:pPr>
                      <a:r>
                        <a:rPr lang="en-IN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HTML, CSS, and Jinja2 (Open Source): Used for creating responsive frontend interfaces and dynamic rendering.</a:t>
                      </a: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à"/>
                      </a:pPr>
                      <a:endParaRPr lang="en-IN" sz="24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pic>
        <p:nvPicPr>
          <p:cNvPr id="2" name="Picture 4" descr="Sai Vidya Institute of Technology - Wikipedia">
            <a:extLst>
              <a:ext uri="{FF2B5EF4-FFF2-40B4-BE49-F238E27FC236}">
                <a16:creationId xmlns:a16="http://schemas.microsoft.com/office/drawing/2014/main" id="{421307B0-644C-9328-875D-3D4CB4462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9" y="74842"/>
            <a:ext cx="767685" cy="767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4A5195-3197-ABDD-045C-50CA95F2E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78146"/>
            <a:ext cx="2743200" cy="365125"/>
          </a:xfrm>
        </p:spPr>
        <p:txBody>
          <a:bodyPr/>
          <a:lstStyle/>
          <a:p>
            <a:fld id="{81A835E2-40D7-45A2-9147-8DCED05EC221}" type="slidenum">
              <a:rPr lang="en-IN" sz="1800" smtClean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11</a:t>
            </a:fld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CBFDD3-99EC-C145-9A38-7775011B4C12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DEPARTMENT OF COMPUTER SCIENCE AND ENGINEERING </a:t>
            </a:r>
          </a:p>
        </p:txBody>
      </p:sp>
    </p:spTree>
    <p:extLst>
      <p:ext uri="{BB962C8B-B14F-4D97-AF65-F5344CB8AC3E}">
        <p14:creationId xmlns:p14="http://schemas.microsoft.com/office/powerpoint/2010/main" val="38284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FAD53-1D46-C355-5951-66C7A6F4D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4CCC14-E5C4-40D8-8FDB-FFC384B210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9DBBD1-02F2-AC9F-2CE5-6ED158A0445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Agency FB" panose="020B0503020202020204" pitchFamily="34" charset="0"/>
              </a:rPr>
              <a:t>SYSTEM ARCHEITECTURE</a:t>
            </a:r>
            <a:endParaRPr lang="en-IN" sz="4400" b="1" dirty="0">
              <a:solidFill>
                <a:schemeClr val="accent2">
                  <a:lumMod val="50000"/>
                </a:schemeClr>
              </a:solidFill>
              <a:latin typeface="Agency FB" panose="020B0503020202020204" pitchFamily="34" charset="0"/>
            </a:endParaRPr>
          </a:p>
        </p:txBody>
      </p:sp>
      <p:pic>
        <p:nvPicPr>
          <p:cNvPr id="1027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975B41B6-38FE-8938-F7CD-882144466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896" y="63956"/>
            <a:ext cx="767685" cy="77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762CC28-42DE-F49A-D75B-2FD6437C74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922293"/>
              </p:ext>
            </p:extLst>
          </p:nvPr>
        </p:nvGraphicFramePr>
        <p:xfrm>
          <a:off x="446314" y="1021902"/>
          <a:ext cx="11266715" cy="531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66715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5313584">
                <a:tc>
                  <a:txBody>
                    <a:bodyPr/>
                    <a:lstStyle/>
                    <a:p>
                      <a:pPr algn="just"/>
                      <a:endParaRPr lang="en-IN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57200" indent="-457200" algn="just">
                        <a:buAutoNum type="arabicPeriod"/>
                      </a:pPr>
                      <a:r>
                        <a:rPr lang="en-IN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 Layer: Built using HTML/CSS and rendered via Jinja2; enables veterinarians</a:t>
                      </a:r>
                    </a:p>
                    <a:p>
                      <a:pPr marL="0" indent="0" algn="just">
                        <a:buNone/>
                      </a:pPr>
                      <a:r>
                        <a:rPr lang="en-IN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input animal symptoms and view diagnostic outputs.</a:t>
                      </a:r>
                    </a:p>
                    <a:p>
                      <a:pPr marL="457200" indent="-457200" algn="just">
                        <a:buAutoNum type="arabicPeriod"/>
                      </a:pPr>
                      <a:endParaRPr lang="en-IN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en-IN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Application Layer: Flask acts as the central controller, processing user input, managing  sessions, and executing AI/ML logic.</a:t>
                      </a:r>
                    </a:p>
                    <a:p>
                      <a:pPr algn="just"/>
                      <a:endParaRPr lang="en-IN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en-IN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Database Layer: SQLite/PostgreSQL stores animal records, doctor credentials, and medical histories securely.</a:t>
                      </a:r>
                    </a:p>
                    <a:p>
                      <a:pPr algn="just"/>
                      <a:endParaRPr lang="en-IN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en-IN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Development Environment: Implemented using VS Code IDE (Open Source) for code development, testing, and version control integration.</a:t>
                      </a: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à"/>
                      </a:pPr>
                      <a:endParaRPr lang="en-IN" sz="24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pic>
        <p:nvPicPr>
          <p:cNvPr id="2" name="Picture 4" descr="Sai Vidya Institute of Technology - Wikipedia">
            <a:extLst>
              <a:ext uri="{FF2B5EF4-FFF2-40B4-BE49-F238E27FC236}">
                <a16:creationId xmlns:a16="http://schemas.microsoft.com/office/drawing/2014/main" id="{B92932FB-6C48-464F-60C2-C45231B39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9" y="74842"/>
            <a:ext cx="767685" cy="767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B53671-A376-22AA-F9D2-11D9958FB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78146"/>
            <a:ext cx="2743200" cy="365125"/>
          </a:xfrm>
        </p:spPr>
        <p:txBody>
          <a:bodyPr/>
          <a:lstStyle/>
          <a:p>
            <a:fld id="{81A835E2-40D7-45A2-9147-8DCED05EC221}" type="slidenum">
              <a:rPr lang="en-IN" sz="1800" smtClean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12</a:t>
            </a:fld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A4EED1-70C2-9394-DF51-0FCC25CC17DF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DEPARTMENT OF COMPUTER SCIENCE AND ENGINEERING </a:t>
            </a:r>
          </a:p>
        </p:txBody>
      </p:sp>
    </p:spTree>
    <p:extLst>
      <p:ext uri="{BB962C8B-B14F-4D97-AF65-F5344CB8AC3E}">
        <p14:creationId xmlns:p14="http://schemas.microsoft.com/office/powerpoint/2010/main" val="3352403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A6D0B-B7AA-36CD-1ED3-7930D225B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EFC9A8-A4C6-92B8-664F-A58A6EBFB91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EB170E-9B0E-A2F8-197E-EF25B3576BD7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accent2">
                    <a:lumMod val="50000"/>
                  </a:schemeClr>
                </a:solidFill>
                <a:latin typeface="Agency FB" panose="020B0503020202020204" pitchFamily="34" charset="0"/>
              </a:rPr>
              <a:t>EXPECTED OUTCOMES</a:t>
            </a:r>
          </a:p>
        </p:txBody>
      </p:sp>
      <p:pic>
        <p:nvPicPr>
          <p:cNvPr id="1027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DC7CDCA7-5EDB-3584-BE1C-BD66F2B42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896" y="63956"/>
            <a:ext cx="767685" cy="77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184AF19-1FAC-70F4-D1A1-F9A15E6611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837444"/>
              </p:ext>
            </p:extLst>
          </p:nvPr>
        </p:nvGraphicFramePr>
        <p:xfrm>
          <a:off x="446314" y="1021902"/>
          <a:ext cx="11266715" cy="531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66715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5313584">
                <a:tc>
                  <a:txBody>
                    <a:bodyPr/>
                    <a:lstStyle/>
                    <a:p>
                      <a:endParaRPr lang="en-US" sz="2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The system provides secure doctor login and QR-based animal identification, allowing doctors to quickly find animal records. It helps avoid duplicate entries, keeps data accurate, and updates records instantly in the database.</a:t>
                      </a:r>
                    </a:p>
                    <a:p>
                      <a:endParaRPr lang="en-US" sz="2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The built-in AI system helps doctors by suggesting treatments, vaccination schedules, and diagnoses based on stored health data. This reduces manual work and supports better and faster decision-making.</a:t>
                      </a:r>
                    </a:p>
                    <a:p>
                      <a:pPr algn="just"/>
                      <a:endParaRPr lang="en-US" sz="2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With automation and real-time record tracking, the platform makes veterinary work easier, saves time, and ensures better care and management for animals.</a:t>
                      </a: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à"/>
                      </a:pPr>
                      <a:endParaRPr lang="en-IN" sz="22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pic>
        <p:nvPicPr>
          <p:cNvPr id="2" name="Picture 4" descr="Sai Vidya Institute of Technology - Wikipedia">
            <a:extLst>
              <a:ext uri="{FF2B5EF4-FFF2-40B4-BE49-F238E27FC236}">
                <a16:creationId xmlns:a16="http://schemas.microsoft.com/office/drawing/2014/main" id="{E1138148-5798-388C-C5BE-B91A33F27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9" y="74842"/>
            <a:ext cx="767685" cy="767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950CF6-FA15-CBB9-8377-23799F598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78146"/>
            <a:ext cx="2743200" cy="365125"/>
          </a:xfrm>
        </p:spPr>
        <p:txBody>
          <a:bodyPr/>
          <a:lstStyle/>
          <a:p>
            <a:fld id="{81A835E2-40D7-45A2-9147-8DCED05EC221}" type="slidenum">
              <a:rPr lang="en-IN" sz="1800" smtClean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13</a:t>
            </a:fld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F17A46-AAC7-2F0A-6EBD-7B7F40651469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DEPARTMENT OF COMPUTER SCIENCE AND ENGINEERING </a:t>
            </a:r>
          </a:p>
        </p:txBody>
      </p:sp>
    </p:spTree>
    <p:extLst>
      <p:ext uri="{BB962C8B-B14F-4D97-AF65-F5344CB8AC3E}">
        <p14:creationId xmlns:p14="http://schemas.microsoft.com/office/powerpoint/2010/main" val="4258357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5B36C-86D4-7776-76D5-23BAD7E1F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87B956-CD9A-E522-E479-0BA6BFEBBD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9A6B35-95C6-A69A-0CD9-D62B9816A5DF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accent2">
                    <a:lumMod val="50000"/>
                  </a:schemeClr>
                </a:solidFill>
                <a:latin typeface="Agency FB" panose="020B0503020202020204" pitchFamily="34" charset="0"/>
              </a:rPr>
              <a:t>REFERENCES</a:t>
            </a:r>
          </a:p>
        </p:txBody>
      </p:sp>
      <p:pic>
        <p:nvPicPr>
          <p:cNvPr id="1027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82311498-F5D0-3A41-1FDA-72AE57333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896" y="63956"/>
            <a:ext cx="767685" cy="77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24DEE9E-F6E5-C52B-D0CD-5BC935F79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767305"/>
              </p:ext>
            </p:extLst>
          </p:nvPr>
        </p:nvGraphicFramePr>
        <p:xfrm>
          <a:off x="242596" y="1021902"/>
          <a:ext cx="11470433" cy="54010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70433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5313584">
                <a:tc>
                  <a:txBody>
                    <a:bodyPr/>
                    <a:lstStyle/>
                    <a:p>
                      <a:endParaRPr lang="en-IN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  Prashanna J and Dr.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Vanita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Jaitly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“AI-Powered Veterinary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Chatbot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Automated Diagnosis,” </a:t>
                      </a:r>
                      <a:r>
                        <a:rPr lang="en-IN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Proceedings of the International Conference on Inventive Computation Technologies (ICICT)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pp. 1629–1635, Jan. 2025.</a:t>
                      </a:r>
                    </a:p>
                    <a:p>
                      <a:endParaRPr lang="en-IN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  Dr.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Deepika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Soni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Dr.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Awanit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Kumar,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Dr.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Vikas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Somani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Dr.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Sheshang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Degadwala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“Veterinary Medical Records Application using AWS,” </a:t>
                      </a:r>
                      <a:r>
                        <a:rPr lang="en-IN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5th International Conference on Mobile Computing and Sustainable Informatics (ICMCSI)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pp. 578–583, Feb. 2024.</a:t>
                      </a:r>
                    </a:p>
                    <a:p>
                      <a:endParaRPr lang="en-IN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  Samuel S. Chua,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Jolina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A.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Alis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Mary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Joelyn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Oria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“Web-Based Veterinary Clinic with e-Mail and SMS Notification,” </a:t>
                      </a:r>
                      <a:r>
                        <a:rPr lang="en-IN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9th International Conference on Business and Industrial Research (ICBIR)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pp. 1160–1165, May 2024.</a:t>
                      </a:r>
                    </a:p>
                    <a:p>
                      <a:pPr marL="0" indent="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IN" sz="16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  M.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Madheswaran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S.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Aghalya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R.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Dhanalakshmi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S. Raju, G.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Ramasubramanian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P.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Thirumaraiselvan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“Advancements in Immunization Management for Personalized Vaccine Scheduling with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Machine Learning,” </a:t>
                      </a:r>
                      <a:r>
                        <a:rPr lang="en-IN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10th International Conference on Communication and Signal Processing (ICCSP)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pp. 1566–1570, April 2024.</a:t>
                      </a:r>
                    </a:p>
                    <a:p>
                      <a:endParaRPr lang="en-IN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</a:t>
                      </a:r>
                      <a:r>
                        <a:rPr lang="en-IN" sz="16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Y.-G.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Jin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G. Wu, J.-W.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Seo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S.-J. Park, S.-H.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Hur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D.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Aliyeva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J.-H. Park, and K.-M. Kim, “AI Veterinary Assistance: Enhancing Clinical Decision-Making in Animal Healthcare,” </a:t>
                      </a:r>
                      <a:r>
                        <a:rPr lang="en-IN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vol. 13, pp. 119292–119299, July 2025.</a:t>
                      </a:r>
                    </a:p>
                    <a:p>
                      <a:endParaRPr lang="en-IN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[6]  A. N.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Manikanta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A. F. Baba, D. S.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Vyshnavi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D. K. Paul, and S. S.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Sreedhar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“Cloud </a:t>
                      </a:r>
                      <a:r>
                        <a:rPr lang="en-IN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Based Surveillance System for Tracking and Monitoring of Domestic Animals,” </a:t>
                      </a:r>
                      <a:r>
                        <a:rPr lang="en-IN" sz="16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Conference on Integrated Circuits and Communication Systems (ICICACS)</a:t>
                      </a:r>
                      <a:r>
                        <a:rPr lang="en-I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pp. 1–6, December 2024.</a:t>
                      </a:r>
                    </a:p>
                    <a:p>
                      <a:endParaRPr lang="en-IN" sz="16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pic>
        <p:nvPicPr>
          <p:cNvPr id="2" name="Picture 4" descr="Sai Vidya Institute of Technology - Wikipedia">
            <a:extLst>
              <a:ext uri="{FF2B5EF4-FFF2-40B4-BE49-F238E27FC236}">
                <a16:creationId xmlns:a16="http://schemas.microsoft.com/office/drawing/2014/main" id="{E5E4AFBA-F1E9-DB27-1DC0-7C6DFBBC7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9" y="74842"/>
            <a:ext cx="767685" cy="767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B408FC-ACE5-58E1-E8A6-C37420838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78146"/>
            <a:ext cx="2743200" cy="365125"/>
          </a:xfrm>
        </p:spPr>
        <p:txBody>
          <a:bodyPr/>
          <a:lstStyle/>
          <a:p>
            <a:fld id="{81A835E2-40D7-45A2-9147-8DCED05EC221}" type="slidenum">
              <a:rPr lang="en-IN" sz="1800" smtClean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14</a:t>
            </a:fld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F17A46-AAC7-2F0A-6EBD-7B7F40651469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DEPARTMENT OF COMPUTER SCIENCE AND ENGINEERING </a:t>
            </a:r>
          </a:p>
        </p:txBody>
      </p:sp>
    </p:spTree>
    <p:extLst>
      <p:ext uri="{BB962C8B-B14F-4D97-AF65-F5344CB8AC3E}">
        <p14:creationId xmlns:p14="http://schemas.microsoft.com/office/powerpoint/2010/main" val="1404205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BCA65-3D33-676A-6105-4E87C2742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3E40E0-9A42-284D-A6EF-30C103229F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CFE55A-4A66-634A-1F05-8C5A87FB3AE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7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324C5FAB-91A4-1B73-2DB3-69A828C6B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896" y="63956"/>
            <a:ext cx="767685" cy="77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8C36F27-2B2E-5DE0-AA8D-D3608B73C0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823755"/>
              </p:ext>
            </p:extLst>
          </p:nvPr>
        </p:nvGraphicFramePr>
        <p:xfrm>
          <a:off x="907844" y="74842"/>
          <a:ext cx="10326214" cy="7642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326214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6980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3600" b="1" kern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SAI VIDYA INSTITUTE OF TECHNOLOGY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800" b="1" kern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Approved by AICTE, New Delhi, Affiliated to VTU, Recognized by Govt. of Karnataka, Accredited by NBA, New Delhi (CSE, ECE. ISE) NAAC "A" Grade</a:t>
                      </a:r>
                      <a:endParaRPr lang="en-IN" sz="1200" b="1" kern="1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46EA4D5-C0C8-80AD-343A-DA365B7C8C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582"/>
              </p:ext>
            </p:extLst>
          </p:nvPr>
        </p:nvGraphicFramePr>
        <p:xfrm>
          <a:off x="70082" y="1545771"/>
          <a:ext cx="12023500" cy="43760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023500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43760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115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THANK YOU</a:t>
                      </a:r>
                      <a:endParaRPr lang="en-IN" sz="8800" b="1" kern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pic>
        <p:nvPicPr>
          <p:cNvPr id="2" name="Picture 4" descr="Sai Vidya Institute of Technology - Wikipedia">
            <a:extLst>
              <a:ext uri="{FF2B5EF4-FFF2-40B4-BE49-F238E27FC236}">
                <a16:creationId xmlns:a16="http://schemas.microsoft.com/office/drawing/2014/main" id="{37323626-C6F8-B338-A90F-9E9B65A34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9" y="74842"/>
            <a:ext cx="767685" cy="767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D2FCA6-7140-8660-5DFA-8364D015D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00595"/>
            <a:ext cx="2743200" cy="257405"/>
          </a:xfrm>
        </p:spPr>
        <p:txBody>
          <a:bodyPr/>
          <a:lstStyle/>
          <a:p>
            <a:fld id="{81A835E2-40D7-45A2-9147-8DCED05EC221}" type="slidenum">
              <a:rPr lang="en-IN" sz="1800" smtClean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15</a:t>
            </a:fld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7A46-AAC7-2F0A-6EBD-7B7F40651469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DEPARTMENT OF COMPUTER SCIENCE AND ENGINEERING </a:t>
            </a:r>
          </a:p>
        </p:txBody>
      </p:sp>
    </p:spTree>
    <p:extLst>
      <p:ext uri="{BB962C8B-B14F-4D97-AF65-F5344CB8AC3E}">
        <p14:creationId xmlns:p14="http://schemas.microsoft.com/office/powerpoint/2010/main" val="3129974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5897</TotalTime>
  <Words>1680</Words>
  <Application>Microsoft Office PowerPoint</Application>
  <PresentationFormat>Widescreen</PresentationFormat>
  <Paragraphs>194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ADLaM Display</vt:lpstr>
      <vt:lpstr>Agency FB</vt:lpstr>
      <vt:lpstr>Aptos</vt:lpstr>
      <vt:lpstr>Aptos Display</vt:lpstr>
      <vt:lpstr>Arial</vt:lpstr>
      <vt:lpstr>Calibri</vt:lpstr>
      <vt:lpstr>Cambria</vt:lpstr>
      <vt:lpstr>Constantia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Rajesh S M</dc:creator>
  <cp:lastModifiedBy>mahima k</cp:lastModifiedBy>
  <cp:revision>27</cp:revision>
  <dcterms:created xsi:type="dcterms:W3CDTF">2025-08-06T03:58:51Z</dcterms:created>
  <dcterms:modified xsi:type="dcterms:W3CDTF">2025-10-08T17:01:48Z</dcterms:modified>
</cp:coreProperties>
</file>