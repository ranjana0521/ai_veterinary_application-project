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63" r:id="rId5"/>
    <p:sldId id="262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DF1"/>
    <a:srgbClr val="F9FB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661A2E-3866-44BD-9CF2-17E6CF9E6856}" v="58" dt="2025-09-01T17:19:47.5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5274" autoAdjust="0"/>
  </p:normalViewPr>
  <p:slideViewPr>
    <p:cSldViewPr snapToGrid="0">
      <p:cViewPr varScale="1">
        <p:scale>
          <a:sx n="82" d="100"/>
          <a:sy n="82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kavi SM" userId="2edc7092adc2f2d6" providerId="LiveId" clId="{37661A2E-3866-44BD-9CF2-17E6CF9E6856}"/>
    <pc:docChg chg="modSld">
      <pc:chgData name="parkavi SM" userId="2edc7092adc2f2d6" providerId="LiveId" clId="{37661A2E-3866-44BD-9CF2-17E6CF9E6856}" dt="2025-09-01T17:23:20.290" v="557" actId="2711"/>
      <pc:docMkLst>
        <pc:docMk/>
      </pc:docMkLst>
      <pc:sldChg chg="modSp mod">
        <pc:chgData name="parkavi SM" userId="2edc7092adc2f2d6" providerId="LiveId" clId="{37661A2E-3866-44BD-9CF2-17E6CF9E6856}" dt="2025-09-01T14:49:25.436" v="55" actId="20577"/>
        <pc:sldMkLst>
          <pc:docMk/>
          <pc:sldMk cId="2880847353" sldId="256"/>
        </pc:sldMkLst>
        <pc:graphicFrameChg chg="modGraphic">
          <ac:chgData name="parkavi SM" userId="2edc7092adc2f2d6" providerId="LiveId" clId="{37661A2E-3866-44BD-9CF2-17E6CF9E6856}" dt="2025-09-01T14:49:25.436" v="55" actId="20577"/>
          <ac:graphicFrameMkLst>
            <pc:docMk/>
            <pc:sldMk cId="2880847353" sldId="256"/>
            <ac:graphicFrameMk id="13" creationId="{5FF79B35-BED4-3FE3-46A4-B19F1D87CB43}"/>
          </ac:graphicFrameMkLst>
        </pc:graphicFrameChg>
      </pc:sldChg>
      <pc:sldChg chg="modSp mod">
        <pc:chgData name="parkavi SM" userId="2edc7092adc2f2d6" providerId="LiveId" clId="{37661A2E-3866-44BD-9CF2-17E6CF9E6856}" dt="2025-09-01T17:23:20.290" v="557" actId="2711"/>
        <pc:sldMkLst>
          <pc:docMk/>
          <pc:sldMk cId="3375130851" sldId="262"/>
        </pc:sldMkLst>
        <pc:graphicFrameChg chg="modGraphic">
          <ac:chgData name="parkavi SM" userId="2edc7092adc2f2d6" providerId="LiveId" clId="{37661A2E-3866-44BD-9CF2-17E6CF9E6856}" dt="2025-09-01T17:23:20.290" v="557" actId="2711"/>
          <ac:graphicFrameMkLst>
            <pc:docMk/>
            <pc:sldMk cId="3375130851" sldId="262"/>
            <ac:graphicFrameMk id="10" creationId="{3DEC948D-D156-4E00-CD73-2E34CB685ECF}"/>
          </ac:graphicFrameMkLst>
        </pc:graphicFrameChg>
      </pc:sldChg>
      <pc:sldChg chg="modSp mod">
        <pc:chgData name="parkavi SM" userId="2edc7092adc2f2d6" providerId="LiveId" clId="{37661A2E-3866-44BD-9CF2-17E6CF9E6856}" dt="2025-09-01T17:22:43.189" v="556" actId="1076"/>
        <pc:sldMkLst>
          <pc:docMk/>
          <pc:sldMk cId="3000132544" sldId="263"/>
        </pc:sldMkLst>
        <pc:spChg chg="mod">
          <ac:chgData name="parkavi SM" userId="2edc7092adc2f2d6" providerId="LiveId" clId="{37661A2E-3866-44BD-9CF2-17E6CF9E6856}" dt="2025-09-01T17:19:47.582" v="536" actId="1076"/>
          <ac:spMkLst>
            <pc:docMk/>
            <pc:sldMk cId="3000132544" sldId="263"/>
            <ac:spMk id="3" creationId="{3DE3593C-9013-6472-9966-2896F2DD2C61}"/>
          </ac:spMkLst>
        </pc:spChg>
        <pc:spChg chg="mod">
          <ac:chgData name="parkavi SM" userId="2edc7092adc2f2d6" providerId="LiveId" clId="{37661A2E-3866-44BD-9CF2-17E6CF9E6856}" dt="2025-09-01T17:19:47.582" v="536" actId="1076"/>
          <ac:spMkLst>
            <pc:docMk/>
            <pc:sldMk cId="3000132544" sldId="263"/>
            <ac:spMk id="4" creationId="{C8022D69-79C6-2A11-740C-27DEC0C17C38}"/>
          </ac:spMkLst>
        </pc:spChg>
        <pc:spChg chg="mod">
          <ac:chgData name="parkavi SM" userId="2edc7092adc2f2d6" providerId="LiveId" clId="{37661A2E-3866-44BD-9CF2-17E6CF9E6856}" dt="2025-09-01T17:19:47.582" v="536" actId="1076"/>
          <ac:spMkLst>
            <pc:docMk/>
            <pc:sldMk cId="3000132544" sldId="263"/>
            <ac:spMk id="6" creationId="{8A61F859-85C3-87C3-4736-9091F8C62F83}"/>
          </ac:spMkLst>
        </pc:spChg>
        <pc:spChg chg="mod">
          <ac:chgData name="parkavi SM" userId="2edc7092adc2f2d6" providerId="LiveId" clId="{37661A2E-3866-44BD-9CF2-17E6CF9E6856}" dt="2025-09-01T17:19:47.582" v="536" actId="1076"/>
          <ac:spMkLst>
            <pc:docMk/>
            <pc:sldMk cId="3000132544" sldId="263"/>
            <ac:spMk id="7" creationId="{98F71547-864F-45CC-87F5-8FF410240468}"/>
          </ac:spMkLst>
        </pc:spChg>
        <pc:graphicFrameChg chg="mod modGraphic">
          <ac:chgData name="parkavi SM" userId="2edc7092adc2f2d6" providerId="LiveId" clId="{37661A2E-3866-44BD-9CF2-17E6CF9E6856}" dt="2025-09-01T17:22:43.189" v="556" actId="1076"/>
          <ac:graphicFrameMkLst>
            <pc:docMk/>
            <pc:sldMk cId="3000132544" sldId="263"/>
            <ac:graphicFrameMk id="10" creationId="{22123AFA-660C-DF00-72F6-F60478ED2006}"/>
          </ac:graphicFrameMkLst>
        </pc:graphicFrameChg>
        <pc:picChg chg="mod">
          <ac:chgData name="parkavi SM" userId="2edc7092adc2f2d6" providerId="LiveId" clId="{37661A2E-3866-44BD-9CF2-17E6CF9E6856}" dt="2025-09-01T17:19:47.582" v="536" actId="1076"/>
          <ac:picMkLst>
            <pc:docMk/>
            <pc:sldMk cId="3000132544" sldId="263"/>
            <ac:picMk id="2" creationId="{56B2F8D7-0469-65D9-ED00-86A85DDA3106}"/>
          </ac:picMkLst>
        </pc:picChg>
        <pc:picChg chg="mod">
          <ac:chgData name="parkavi SM" userId="2edc7092adc2f2d6" providerId="LiveId" clId="{37661A2E-3866-44BD-9CF2-17E6CF9E6856}" dt="2025-09-01T17:19:47.582" v="536" actId="1076"/>
          <ac:picMkLst>
            <pc:docMk/>
            <pc:sldMk cId="3000132544" sldId="263"/>
            <ac:picMk id="1027" creationId="{CC976609-9137-F375-9BF3-7776998574D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FAA6AD-9D99-4185-8BA4-24935467367A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513574-9850-4B4E-AFB8-F395A6728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776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513574-9850-4B4E-AFB8-F395A672873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169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729E-BB4E-8799-6B2D-D1371C813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42761-1B27-6BFC-9034-04E00DD1F4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63730-50D9-10B2-B362-6168AEA3B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3743F-E9D7-41D8-85DC-A436CF6AD6A9}" type="datetime1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DEA89-AFF0-E4C2-F321-9EE307DB4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EF2C-3586-FFA9-2D46-2139EA927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952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CAE2-1567-16F3-6B84-DB030E51D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604BB-3CA8-921F-DB96-CFB252940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DDE7B-84DB-5824-6555-E888E8F42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457D3-7CF2-487C-BF4E-ACD9CEDD8594}" type="datetime1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2DBB1-F133-62E4-1264-78D1EC6A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2AB94-4AAB-162C-92E1-D1A0D71F7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250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C865-BEFB-1D1F-D812-674B2B8E0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50417-CA43-9CDC-78B7-8E0C568DA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7901E-963D-F87A-6ECE-9AACBC1E5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A5D27-4F1B-4DB8-8249-E55462DA5AD0}" type="datetime1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66F15-13F6-FF1B-18E8-41581816B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8AF60-52F3-52AF-8B89-B7855922F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16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C228-AF22-6CF5-DD47-1C4CFE556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64A07-D3F5-1093-56BA-5B0C4A401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D8D34-D614-6956-DB71-3D77B4662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D7544-71A7-BE18-617D-0108FB28C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0C09-279D-49DB-8C22-0D4684524E15}" type="datetime1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9B8C0-1B9D-AB9E-937A-723D5B6D4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1133A-DF6B-FF85-9F31-9A748360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796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650E3-F84D-D3A3-2968-16C7639D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2D2F7-E220-6744-B0E5-51C1D6C5A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6E1F2-A0D6-28CA-45FF-BB4A2C44E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43B374-BD47-6318-C903-39F88B24F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074E0-905A-FDE6-3261-17D8785592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7E3247-A790-B274-B31E-A8F7F5A1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ED76D-7A50-4C7F-881F-546A06AEF894}" type="datetime1">
              <a:rPr lang="en-IN" smtClean="0"/>
              <a:t>03-09-2025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CC6514-3274-4DD9-F817-4A8B4C18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F1162-215C-CBC1-E829-D86CD34FB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40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461EA-D4C6-B2AA-FE11-5A7A452B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F06CF-147A-85F0-83C4-73C7553D1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9716C-58CD-4A34-9BFF-93086383BEF6}" type="datetime1">
              <a:rPr lang="en-IN" smtClean="0"/>
              <a:t>03-09-2025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38643F-D9DC-DBBD-778B-CF75377B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2BE99F-42B2-9E6B-ACFD-9E787B3A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95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88EB54-45D8-C046-9BBC-89FF8D243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3C38-85B6-4BAD-AF31-4C15BDEAF35B}" type="datetime1">
              <a:rPr lang="en-IN" smtClean="0"/>
              <a:t>03-09-2025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AE145-81BD-D979-4DA2-AD70B7A0C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1B710-FDAE-27B9-F932-CDEDE9548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11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C7719-5CD2-1D52-232B-71EA89188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B0F98-FB7E-86C2-0D84-52DCA076B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AD46E-32A1-42B2-A477-3C0324524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3A755-446F-4E61-8D77-8735EF6DE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B13EB-A447-4214-82D7-ABF2BCB3B538}" type="datetime1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C489B-8186-D679-109E-D228EE608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28C98-2873-7380-F3BE-D8268E105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083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1FE75-D934-0A39-781E-5D451F16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3462F-F755-C275-FEBA-2B95F266B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6C9F0-98A9-2E7A-8225-6B7159786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4A7AE-811F-1F1A-B46F-69734390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8F77E-1B87-44A4-9FEA-25391B0B6124}" type="datetime1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13CCB-6247-7D6E-F0CA-F57C8790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7F1AA-D6F8-D41F-B676-703BEE70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855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A545-BAD0-8F84-3918-FCEC711F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1953B-8086-E86E-E7EF-3EA6873B3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B684F-814E-7C01-4300-2E0715F37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2BF36-DF3C-45F3-9CCF-2AA1F36F2C6F}" type="datetime1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31A44-5360-00B0-82B2-BDA8CBE5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9F6D2-03AF-4D46-F832-34F9CEAC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08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05BC2E-F951-EA53-FA98-135EEBC063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B6C983-CA5F-C28B-C50C-142A99400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90DEA-FD26-14AA-C4CD-FFBC8960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3DB5-1F94-404F-8210-2480E02B0442}" type="datetime1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9310E-ABF1-0147-9EC0-6589C7F1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A2274-E8A2-5A88-0CF7-3B3A17A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795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0BBCE-7158-FCC4-A773-96708854B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60581-945E-3B17-39E0-5477C243B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B1034-1316-6253-3DEE-873920DB2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78DCB-CDD8-426A-83A5-8C398F77A3DE}" type="datetime1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669C5-D919-C7B0-39B5-BE013FD6E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5675E-974D-4698-4799-80E8C8884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835E2-40D7-45A2-9147-8DCED05EC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49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7933A7-B9F1-53BA-2D71-765F8210EB66}"/>
              </a:ext>
            </a:extLst>
          </p:cNvPr>
          <p:cNvSpPr/>
          <p:nvPr/>
        </p:nvSpPr>
        <p:spPr>
          <a:xfrm>
            <a:off x="0" y="0"/>
            <a:ext cx="12192000" cy="6937574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682BC2-CC7C-2E3A-6BAD-8EC7434BF78C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D08097BC-AB6D-CE51-DF5F-1ADB5D444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12EA54-8080-455F-091B-91210396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84601"/>
              </p:ext>
            </p:extLst>
          </p:nvPr>
        </p:nvGraphicFramePr>
        <p:xfrm>
          <a:off x="919419" y="86417"/>
          <a:ext cx="10326214" cy="7665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26214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6980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3600" b="1" kern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SAI VIDYA INSTITUTE OF TECHNOLOGY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800" b="1" kern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Approved by AICTE, New Delhi, Affiliated to VTU, Recognized by Govt. of Karnataka, Accredited by NBA, New Delhi (CSE, ECE. ISE) NAAC "A" Grade</a:t>
                      </a:r>
                      <a:endParaRPr lang="en-IN" sz="1200" b="1" kern="1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45DD611-DCB9-E004-CD3D-C8A49C196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913884"/>
              </p:ext>
            </p:extLst>
          </p:nvPr>
        </p:nvGraphicFramePr>
        <p:xfrm>
          <a:off x="26536" y="1021902"/>
          <a:ext cx="12121919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21919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800" b="1" kern="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DEPARTMENT OF COMPUTER SCIENCE AND ENGINEERING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b="1" kern="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BCS586: MINI PROJECT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5F3849C-5AC3-4C56-9E70-DCC699387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645585"/>
              </p:ext>
            </p:extLst>
          </p:nvPr>
        </p:nvGraphicFramePr>
        <p:xfrm>
          <a:off x="70082" y="2552390"/>
          <a:ext cx="12023500" cy="5391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23500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91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8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“A</a:t>
                      </a:r>
                      <a:r>
                        <a:rPr lang="en-IN" sz="28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I-Driven Decision Support </a:t>
                      </a:r>
                      <a:r>
                        <a:rPr lang="en-IN" sz="2800" b="1" kern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Application</a:t>
                      </a:r>
                      <a:r>
                        <a:rPr lang="en-IN" sz="2800" b="1" kern="0" baseline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 </a:t>
                      </a:r>
                      <a:r>
                        <a:rPr lang="en-IN" sz="2800" b="1" kern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for </a:t>
                      </a:r>
                      <a:r>
                        <a:rPr lang="en-IN" sz="28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Veterinary Management”</a:t>
                      </a:r>
                      <a:endParaRPr lang="en-IN" sz="2000" b="1" kern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AA46C8B-6B63-AC65-6CC9-094946C9C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860248"/>
              </p:ext>
            </p:extLst>
          </p:nvPr>
        </p:nvGraphicFramePr>
        <p:xfrm>
          <a:off x="222482" y="4118646"/>
          <a:ext cx="5568718" cy="21939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68718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6589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PRESENTED</a:t>
                      </a:r>
                      <a:r>
                        <a:rPr lang="en-IN" sz="28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 </a:t>
                      </a:r>
                      <a:r>
                        <a:rPr lang="en-IN" sz="24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BY</a:t>
                      </a:r>
                      <a:r>
                        <a:rPr lang="en-IN" sz="28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,</a:t>
                      </a:r>
                      <a:endParaRPr lang="en-IN" sz="2000" b="1" kern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gency FB" panose="020B0503020202020204" pitchFamily="34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8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Niharika M </a:t>
                      </a:r>
                      <a:r>
                        <a:rPr lang="en-IN" sz="1800" b="1" kern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Kodige</a:t>
                      </a:r>
                      <a:r>
                        <a:rPr lang="en-IN" sz="18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     1VA23CS105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Mahima K                   1VA23CS092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Ranjana H                  1VA23CS129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SM Parkavi                1VA23CS134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IN" sz="2800" b="1" kern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FF79B35-BED4-3FE3-46A4-B19F1D87C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213776"/>
              </p:ext>
            </p:extLst>
          </p:nvPr>
        </p:nvGraphicFramePr>
        <p:xfrm>
          <a:off x="6525311" y="4194836"/>
          <a:ext cx="5568718" cy="18083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68718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6589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4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UNDER THE SUPERVISION OF,</a:t>
                      </a:r>
                      <a:endParaRPr lang="en-IN" sz="2000" b="1" kern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gency FB" panose="020B0503020202020204" pitchFamily="34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8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Dr. Varun 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Associate Professor,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DEPT., OF CSE., SVIT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IN" sz="2800" b="1" kern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2" name="Picture 4" descr="Sai Vidya Institute of Technology - Wikipedia">
            <a:extLst>
              <a:ext uri="{FF2B5EF4-FFF2-40B4-BE49-F238E27FC236}">
                <a16:creationId xmlns:a16="http://schemas.microsoft.com/office/drawing/2014/main" id="{DFAED524-517F-EF2E-7888-8A7BE0596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VTU-Logo-250×250 – SJB INSTITUTE OF TECHNOLOGY">
            <a:extLst>
              <a:ext uri="{FF2B5EF4-FFF2-40B4-BE49-F238E27FC236}">
                <a16:creationId xmlns:a16="http://schemas.microsoft.com/office/drawing/2014/main" id="{2004FB7F-EF00-F30B-587C-C88DA4098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558" y="545429"/>
            <a:ext cx="5678487" cy="5678487"/>
          </a:xfrm>
          <a:prstGeom prst="rect">
            <a:avLst/>
          </a:prstGeom>
          <a:noFill/>
          <a:ln>
            <a:noFill/>
          </a:ln>
          <a:effectLst>
            <a:outerShdw blurRad="1270000" dist="50800" dir="5400000" algn="ctr" rotWithShape="0">
              <a:srgbClr val="000000">
                <a:alpha val="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1D19A-DDE5-65FB-3D3B-BD0E5638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5255" y="6567061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20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</a:t>
            </a:fld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0847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48416-0A38-CA65-A2E3-A42F75B2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F21127-795F-9BF2-A50B-93BD5E9E25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580AC0-7723-D82B-BE59-695FE4D4B92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OUTLINE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 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F5DB4B3B-6352-9FAB-BB3A-ADE43FA38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F18F90-D3E0-31B1-A2BE-E2EF261C7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988200"/>
              </p:ext>
            </p:extLst>
          </p:nvPr>
        </p:nvGraphicFramePr>
        <p:xfrm>
          <a:off x="446314" y="1021902"/>
          <a:ext cx="11266715" cy="531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66715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31358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IN" sz="2800" b="1" kern="0" dirty="0">
                        <a:solidFill>
                          <a:schemeClr val="accent4">
                            <a:lumMod val="50000"/>
                          </a:schemeClr>
                        </a:solidFill>
                        <a:effectLst/>
                        <a:latin typeface="Agency FB" panose="020B0503020202020204" pitchFamily="34" charset="0"/>
                        <a:sym typeface="Wingdings" panose="05000000000000000000" pitchFamily="2" charset="2"/>
                      </a:endParaRPr>
                    </a:p>
                    <a:p>
                      <a:pPr marL="342900" indent="-342900" algn="l">
                        <a:lnSpc>
                          <a:spcPct val="2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r>
                        <a:rPr lang="en-IN" sz="2800" b="1" kern="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  <a:sym typeface="Wingdings" panose="05000000000000000000" pitchFamily="2" charset="2"/>
                        </a:rPr>
                        <a:t>PROBLEM STATEMENT</a:t>
                      </a:r>
                    </a:p>
                    <a:p>
                      <a:pPr marL="342900" indent="-342900" algn="l">
                        <a:lnSpc>
                          <a:spcPct val="2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r>
                        <a:rPr lang="en-IN" sz="2800" b="1" kern="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  <a:sym typeface="Wingdings" panose="05000000000000000000" pitchFamily="2" charset="2"/>
                        </a:rPr>
                        <a:t>BRIEF</a:t>
                      </a:r>
                      <a:r>
                        <a:rPr lang="en-IN" sz="2800" b="1" kern="0" baseline="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  <a:sym typeface="Wingdings" panose="05000000000000000000" pitchFamily="2" charset="2"/>
                        </a:rPr>
                        <a:t> OVERVIEW OF PROPOSED SYSTEM</a:t>
                      </a:r>
                      <a:r>
                        <a:rPr lang="en-IN" sz="2800" b="1" kern="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  <a:sym typeface="Wingdings" panose="05000000000000000000" pitchFamily="2" charset="2"/>
                        </a:rPr>
                        <a:t> </a:t>
                      </a:r>
                    </a:p>
                    <a:p>
                      <a:pPr marL="342900" indent="-342900" algn="l">
                        <a:lnSpc>
                          <a:spcPct val="2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r>
                        <a:rPr lang="en-IN" sz="2800" b="1" kern="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  <a:sym typeface="Wingdings" panose="05000000000000000000" pitchFamily="2" charset="2"/>
                        </a:rPr>
                        <a:t>OBJECTIVES</a:t>
                      </a:r>
                    </a:p>
                    <a:p>
                      <a:pPr marL="34290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endParaRPr lang="en-IN" sz="2800" b="1" kern="0" dirty="0">
                        <a:solidFill>
                          <a:schemeClr val="accent4">
                            <a:lumMod val="50000"/>
                          </a:schemeClr>
                        </a:solidFill>
                        <a:effectLst/>
                        <a:latin typeface="Agency FB" panose="020B0503020202020204" pitchFamily="34" charset="0"/>
                        <a:sym typeface="Wingdings" panose="05000000000000000000" pitchFamily="2" charset="2"/>
                      </a:endParaRPr>
                    </a:p>
                    <a:p>
                      <a:pPr marL="34290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endParaRPr lang="en-IN" sz="2000" b="1" kern="0" dirty="0">
                        <a:solidFill>
                          <a:schemeClr val="accent4">
                            <a:lumMod val="50000"/>
                          </a:schemeClr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3" name="Picture 4" descr="Sai Vidya Institute of Technology - Wikipedia">
            <a:extLst>
              <a:ext uri="{FF2B5EF4-FFF2-40B4-BE49-F238E27FC236}">
                <a16:creationId xmlns:a16="http://schemas.microsoft.com/office/drawing/2014/main" id="{62DF0E57-853D-C692-A085-085C8C886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B00BAC-360D-1F73-32F5-03F60C99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67261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20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968D5-3403-686C-6CDF-BB1FD379F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A89F48-553A-6825-0415-6440D580BE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E5A0CF-AF65-16EB-1201-D9FDA3B9210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PROBLEM STATEMENT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8198715B-9ED0-9D08-BA4B-F326720A6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11BD376-E5B5-CF79-FD71-A2F60FD26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285890"/>
              </p:ext>
            </p:extLst>
          </p:nvPr>
        </p:nvGraphicFramePr>
        <p:xfrm>
          <a:off x="737117" y="1222310"/>
          <a:ext cx="10588779" cy="51131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88779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113176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IN" sz="32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To Design and Implement an intelligent veterinary management system that leverages Artificial Intelligence and data-driven decision-making to streamline medical record management, support accurate health monitoring, and enable timely interventions for </a:t>
                      </a:r>
                      <a:r>
                        <a:rPr lang="en-IN" sz="32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animals.</a:t>
                      </a:r>
                      <a:endParaRPr lang="en-IN" sz="32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34290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endParaRPr lang="en-IN" sz="2000" b="1" kern="0" dirty="0">
                        <a:solidFill>
                          <a:schemeClr val="accent4">
                            <a:lumMod val="50000"/>
                          </a:schemeClr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2" name="Picture 4" descr="Sai Vidya Institute of Technology - Wikipedia">
            <a:extLst>
              <a:ext uri="{FF2B5EF4-FFF2-40B4-BE49-F238E27FC236}">
                <a16:creationId xmlns:a16="http://schemas.microsoft.com/office/drawing/2014/main" id="{B1837CA8-74BB-9304-B493-955937EEF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ACB4A7-D49A-0FD4-18E3-FF257313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00377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6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</a:t>
            </a:fld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 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3DE3593C-9013-6472-9966-2896F2DD2C61}"/>
              </a:ext>
            </a:extLst>
          </p:cNvPr>
          <p:cNvSpPr txBox="1">
            <a:spLocks/>
          </p:cNvSpPr>
          <p:nvPr/>
        </p:nvSpPr>
        <p:spPr>
          <a:xfrm>
            <a:off x="9350381" y="657814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30436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E67B7-4FB4-CC9A-F5E5-77EE39EE3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022D69-79C6-2A11-740C-27DEC0C17C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61F859-85C3-87C3-4736-9091F8C62F8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PROPOSED METHODOLOGY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F71547-864F-45CC-87F5-8FF410240468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CC976609-9137-F375-9BF3-777699857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2123AFA-660C-DF00-72F6-F60478ED2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925349"/>
              </p:ext>
            </p:extLst>
          </p:nvPr>
        </p:nvGraphicFramePr>
        <p:xfrm>
          <a:off x="222179" y="989242"/>
          <a:ext cx="11747641" cy="5436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47641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436000">
                <a:tc>
                  <a:txBody>
                    <a:bodyPr/>
                    <a:lstStyle/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9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the application, veterinary doctors serve as the main users, while the</a:t>
                      </a:r>
                      <a:r>
                        <a:rPr lang="en-US" sz="1900" b="0" kern="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9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assistant functions as a supportive tool to assist in diagnosis and efficient management of medical records.</a:t>
                      </a:r>
                    </a:p>
                    <a:p>
                      <a:pPr marL="0"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sz="1900" b="0" kern="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9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 structured database with tables for animals, and their health history to ensure easy retrieval of data. Incorporate access controls to allow updates only by authorized doctors.</a:t>
                      </a:r>
                    </a:p>
                    <a:p>
                      <a:pPr marL="0"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sz="1900" b="0" kern="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9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core modules including:</a:t>
                      </a:r>
                      <a:r>
                        <a:rPr lang="en-US" sz="1900" b="0" kern="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914400" lvl="1" indent="-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9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Doctor Module</a:t>
                      </a:r>
                      <a:r>
                        <a:rPr lang="en-US" sz="1900" b="0" kern="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9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login, account creation, and managing linked villages.</a:t>
                      </a:r>
                    </a:p>
                    <a:p>
                      <a:pPr marL="914400" lvl="1" indent="-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9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Animal Module</a:t>
                      </a:r>
                      <a:r>
                        <a:rPr lang="en-US" sz="1900" b="0" kern="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</a:t>
                      </a:r>
                      <a:r>
                        <a:rPr lang="en-US" sz="19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assign unique IDs and QR codes for each animal.</a:t>
                      </a:r>
                    </a:p>
                    <a:p>
                      <a:pPr marL="914400" lvl="1" indent="-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9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 Record Module</a:t>
                      </a:r>
                      <a:r>
                        <a:rPr lang="en-US" sz="1900" b="0" kern="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9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managing vaccination history, symptoms, and treatments.</a:t>
                      </a:r>
                    </a:p>
                    <a:p>
                      <a:pPr marL="457200" lvl="1"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US" sz="1900" b="0" kern="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9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and Decision Support Integration</a:t>
                      </a:r>
                      <a:r>
                        <a:rPr lang="en-US" sz="1900" b="0" kern="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</a:t>
                      </a:r>
                      <a:r>
                        <a:rPr lang="en-US" sz="19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mplement rule-based AI algorithms to analyze symptoms, suggest probable diagnoses, and provide basic remedies when doctors are unavailable</a:t>
                      </a:r>
                    </a:p>
                    <a:p>
                      <a:pPr marL="0"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sz="1900" b="0" kern="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9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Notifications and Monitoring</a:t>
                      </a:r>
                      <a:r>
                        <a:rPr lang="en-US" sz="1900" b="0" kern="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9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 real-time notifications for doctor availability, clinic hours, ambulance numbers, and important updates like upcoming holidays or vaccination reminders.</a:t>
                      </a:r>
                      <a:endParaRPr lang="en-IN" sz="19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2" name="Picture 4" descr="Sai Vidya Institute of Technology - Wikipedia">
            <a:extLst>
              <a:ext uri="{FF2B5EF4-FFF2-40B4-BE49-F238E27FC236}">
                <a16:creationId xmlns:a16="http://schemas.microsoft.com/office/drawing/2014/main" id="{56B2F8D7-0469-65D9-ED00-86A85DDA3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E3593C-9013-6472-9966-2896F2DD2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0381" y="6578146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132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3B0FD-FCDD-CBA7-927B-41194E616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9844F5-1C6D-4D7A-9C97-279393E7DC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5434E0-E957-2F87-85B3-FF9895F7134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Agency FB" panose="020B0503020202020204" pitchFamily="34" charset="0"/>
              </a:rPr>
              <a:t>OBJECTIVES</a:t>
            </a:r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490A94DC-E3CC-30E1-1E1E-D01C911E8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DEC948D-D156-4E00-CD73-2E34CB685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382095"/>
              </p:ext>
            </p:extLst>
          </p:nvPr>
        </p:nvGraphicFramePr>
        <p:xfrm>
          <a:off x="98420" y="1179238"/>
          <a:ext cx="11686144" cy="52928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86144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518237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IN" sz="2000" b="0" kern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Bahnschrift SemiLight" panose="020B0502040204020203" pitchFamily="34" charset="0"/>
                        <a:ea typeface="Cambria" panose="02040503050406030204" pitchFamily="18" charset="0"/>
                        <a:sym typeface="Wingdings" panose="05000000000000000000" pitchFamily="2" charset="2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IN" sz="22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To </a:t>
                      </a:r>
                      <a:r>
                        <a:rPr lang="en-IN" sz="22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build an intuitive and responsive frontend interface that enhances usability across devices and simplifies interactions for veterinarians and animal owners.</a:t>
                      </a:r>
                    </a:p>
                    <a:p>
                      <a:pPr marL="0"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IN" sz="22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IN" sz="22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To </a:t>
                      </a:r>
                      <a:r>
                        <a:rPr lang="en-IN" sz="22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design and implement a reliable backend database for efficient management of veterinary medical records.</a:t>
                      </a: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endParaRPr lang="en-IN" sz="22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IN" sz="22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To  </a:t>
                      </a:r>
                      <a:r>
                        <a:rPr lang="en-IN" sz="22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develop AI-driven algorithms that analyse health data and support intelligent decision-making for improved diagnosis, treatment, and preventive care.</a:t>
                      </a:r>
                    </a:p>
                    <a:p>
                      <a:pPr marL="0"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IN" sz="22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34290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IN" sz="22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To </a:t>
                      </a:r>
                      <a:r>
                        <a:rPr lang="en-IN" sz="22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evaluate system performance through real-time testing and feedback from veterinary </a:t>
                      </a:r>
                      <a:r>
                        <a:rPr lang="en-US" sz="22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professionals  to ensure reliability, scalability, and clinical </a:t>
                      </a:r>
                      <a:r>
                        <a:rPr lang="en-US" sz="2200" b="0" kern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relevance</a:t>
                      </a:r>
                      <a:endParaRPr lang="en-IN" sz="2200" b="0" kern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marL="34290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endParaRPr lang="en-IN" sz="2000" b="0" kern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endParaRPr>
                    </a:p>
                    <a:p>
                      <a:pPr marL="342900" indent="-342900" algn="l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à"/>
                      </a:pPr>
                      <a:endParaRPr lang="en-IN" sz="2000" b="1" kern="0" dirty="0">
                        <a:solidFill>
                          <a:schemeClr val="accent4">
                            <a:lumMod val="50000"/>
                          </a:schemeClr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2" name="Picture 4" descr="Sai Vidya Institute of Technology - Wikipedia">
            <a:extLst>
              <a:ext uri="{FF2B5EF4-FFF2-40B4-BE49-F238E27FC236}">
                <a16:creationId xmlns:a16="http://schemas.microsoft.com/office/drawing/2014/main" id="{26466903-8029-D4BA-4E3F-F342A9CE9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4FB134-053B-7B03-CB39-35E0C59DD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69754"/>
            <a:ext cx="2743200" cy="36512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 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3DE3593C-9013-6472-9966-2896F2DD2C61}"/>
              </a:ext>
            </a:extLst>
          </p:cNvPr>
          <p:cNvSpPr txBox="1">
            <a:spLocks/>
          </p:cNvSpPr>
          <p:nvPr/>
        </p:nvSpPr>
        <p:spPr>
          <a:xfrm>
            <a:off x="9350381" y="657814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75130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BCA65-3D33-676A-6105-4E87C2742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3E40E0-9A42-284D-A6EF-30C103229F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CFE55A-4A66-634A-1F05-8C5A87FB3AE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2" descr="A logo for a company&#10;&#10;AI-generated content may be incorrect.">
            <a:extLst>
              <a:ext uri="{FF2B5EF4-FFF2-40B4-BE49-F238E27FC236}">
                <a16:creationId xmlns:a16="http://schemas.microsoft.com/office/drawing/2014/main" id="{324C5FAB-91A4-1B73-2DB3-69A828C6B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896" y="63956"/>
            <a:ext cx="767685" cy="77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C36F27-2B2E-5DE0-AA8D-D3608B73C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823755"/>
              </p:ext>
            </p:extLst>
          </p:nvPr>
        </p:nvGraphicFramePr>
        <p:xfrm>
          <a:off x="907844" y="74842"/>
          <a:ext cx="10326214" cy="7711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26214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6980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3600" b="1" kern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SAI VIDYA INSTITUTE OF TECHNOLOGY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800" b="1" kern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Approved by AICTE, New Delhi, Affiliated to VTU, Recognized by Govt. of Karnataka, Accredited by NBA, New Delhi (CSE, ECE. ISE) NAAC "A" Grade</a:t>
                      </a:r>
                      <a:endParaRPr lang="en-IN" sz="1200" b="1" kern="1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46EA4D5-C0C8-80AD-343A-DA365B7C8C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582"/>
              </p:ext>
            </p:extLst>
          </p:nvPr>
        </p:nvGraphicFramePr>
        <p:xfrm>
          <a:off x="70082" y="1545771"/>
          <a:ext cx="12023500" cy="43760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23500">
                  <a:extLst>
                    <a:ext uri="{9D8B030D-6E8A-4147-A177-3AD203B41FA5}">
                      <a16:colId xmlns:a16="http://schemas.microsoft.com/office/drawing/2014/main" val="1495461617"/>
                    </a:ext>
                  </a:extLst>
                </a:gridCol>
              </a:tblGrid>
              <a:tr h="43760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11500" b="1" kern="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gency FB" panose="020B0503020202020204" pitchFamily="34" charset="0"/>
                        </a:rPr>
                        <a:t>THANK YOU</a:t>
                      </a:r>
                      <a:endParaRPr lang="en-IN" sz="8800" b="1" kern="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gency FB" panose="020B0503020202020204" pitchFamily="34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040110"/>
                  </a:ext>
                </a:extLst>
              </a:tr>
            </a:tbl>
          </a:graphicData>
        </a:graphic>
      </p:graphicFrame>
      <p:pic>
        <p:nvPicPr>
          <p:cNvPr id="2" name="Picture 4" descr="Sai Vidya Institute of Technology - Wikipedia">
            <a:extLst>
              <a:ext uri="{FF2B5EF4-FFF2-40B4-BE49-F238E27FC236}">
                <a16:creationId xmlns:a16="http://schemas.microsoft.com/office/drawing/2014/main" id="{37323626-C6F8-B338-A90F-9E9B65A34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9" y="74842"/>
            <a:ext cx="767685" cy="76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D2FCA6-7140-8660-5DFA-8364D015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00595"/>
            <a:ext cx="2743200" cy="257405"/>
          </a:xfrm>
        </p:spPr>
        <p:txBody>
          <a:bodyPr/>
          <a:lstStyle/>
          <a:p>
            <a:fld id="{81A835E2-40D7-45A2-9147-8DCED05EC221}" type="slidenum">
              <a:rPr lang="en-IN" sz="1800" smtClean="0">
                <a:solidFill>
                  <a:schemeClr val="tx1">
                    <a:lumMod val="95000"/>
                    <a:lumOff val="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6</a:t>
            </a:fld>
            <a:endParaRPr lang="en-IN" sz="1800" dirty="0">
              <a:solidFill>
                <a:schemeClr val="tx1">
                  <a:lumMod val="95000"/>
                  <a:lumOff val="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7A46-AAC7-2F0A-6EBD-7B7F40651469}"/>
              </a:ext>
            </a:extLst>
          </p:cNvPr>
          <p:cNvSpPr/>
          <p:nvPr/>
        </p:nvSpPr>
        <p:spPr>
          <a:xfrm>
            <a:off x="0" y="6578146"/>
            <a:ext cx="12192000" cy="3483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accent1">
                    <a:lumMod val="50000"/>
                  </a:schemeClr>
                </a:solidFill>
                <a:latin typeface="Agency FB" panose="020B0503020202020204" pitchFamily="34" charset="0"/>
              </a:rPr>
              <a:t>DEPARTMENT OF COMPUTER SCIENCE AND ENGINEERING </a:t>
            </a:r>
          </a:p>
        </p:txBody>
      </p:sp>
    </p:spTree>
    <p:extLst>
      <p:ext uri="{BB962C8B-B14F-4D97-AF65-F5344CB8AC3E}">
        <p14:creationId xmlns:p14="http://schemas.microsoft.com/office/powerpoint/2010/main" val="3129974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5893</TotalTime>
  <Words>468</Words>
  <Application>Microsoft Office PowerPoint</Application>
  <PresentationFormat>Widescreen</PresentationFormat>
  <Paragraphs>61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ADLaM Display</vt:lpstr>
      <vt:lpstr>Agency FB</vt:lpstr>
      <vt:lpstr>Aptos</vt:lpstr>
      <vt:lpstr>Aptos Display</vt:lpstr>
      <vt:lpstr>Arial</vt:lpstr>
      <vt:lpstr>Bahnschrift SemiLight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Rajesh S M</dc:creator>
  <cp:lastModifiedBy>Admin</cp:lastModifiedBy>
  <cp:revision>21</cp:revision>
  <dcterms:created xsi:type="dcterms:W3CDTF">2025-08-06T03:58:51Z</dcterms:created>
  <dcterms:modified xsi:type="dcterms:W3CDTF">2025-09-03T01:22:23Z</dcterms:modified>
</cp:coreProperties>
</file>