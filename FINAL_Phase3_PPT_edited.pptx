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60" r:id="rId5"/>
    <p:sldId id="273" r:id="rId6"/>
    <p:sldId id="261" r:id="rId7"/>
    <p:sldId id="267" r:id="rId8"/>
    <p:sldId id="262" r:id="rId9"/>
    <p:sldId id="263" r:id="rId10"/>
    <p:sldId id="271" r:id="rId11"/>
    <p:sldId id="268" r:id="rId12"/>
    <p:sldId id="266" r:id="rId13"/>
    <p:sldId id="270" r:id="rId14"/>
    <p:sldId id="264" r:id="rId15"/>
    <p:sldId id="269" r:id="rId16"/>
    <p:sldId id="272"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DF1"/>
    <a:srgbClr val="F9FB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7A7B87-9B4B-4A35-B977-9AAB43D2EBDD}" v="20" dt="2025-11-25T16:07:42.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AA6AD-9D99-4185-8BA4-24935467367A}" type="datetimeFigureOut">
              <a:rPr lang="en-IN" smtClean="0"/>
              <a:t>28-11-2025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13574-9850-4B4E-AFB8-F395A672873F}" type="slidenum">
              <a:rPr lang="en-IN" smtClean="0"/>
              <a:t>‹#›</a:t>
            </a:fld>
            <a:endParaRPr lang="en-IN"/>
          </a:p>
        </p:txBody>
      </p:sp>
    </p:spTree>
    <p:extLst>
      <p:ext uri="{BB962C8B-B14F-4D97-AF65-F5344CB8AC3E}">
        <p14:creationId xmlns:p14="http://schemas.microsoft.com/office/powerpoint/2010/main" val="2989776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729E-BB4E-8799-6B2D-D1371C8136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642761-1B27-6BFC-9034-04E00DD1F4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063730-50D9-10B2-B362-6168AEA3B5AC}"/>
              </a:ext>
            </a:extLst>
          </p:cNvPr>
          <p:cNvSpPr>
            <a:spLocks noGrp="1"/>
          </p:cNvSpPr>
          <p:nvPr>
            <p:ph type="dt" sz="half" idx="10"/>
          </p:nvPr>
        </p:nvSpPr>
        <p:spPr/>
        <p:txBody>
          <a:bodyPr/>
          <a:lstStyle/>
          <a:p>
            <a:fld id="{CACF7380-022E-42AE-8DA6-DF29CF21FBA5}" type="datetime1">
              <a:rPr lang="en-IN" smtClean="0"/>
              <a:t>28-11-2025</a:t>
            </a:fld>
            <a:endParaRPr lang="en-IN"/>
          </a:p>
        </p:txBody>
      </p:sp>
      <p:sp>
        <p:nvSpPr>
          <p:cNvPr id="5" name="Footer Placeholder 4">
            <a:extLst>
              <a:ext uri="{FF2B5EF4-FFF2-40B4-BE49-F238E27FC236}">
                <a16:creationId xmlns:a16="http://schemas.microsoft.com/office/drawing/2014/main" id="{78FDEA89-AFF0-E4C2-F321-9EE307DB4E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6FEF2C-3586-FFA9-2D46-2139EA927CD2}"/>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946952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CAE2-1567-16F3-6B84-DB030E51D4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F604BB-3CA8-921F-DB96-CFB252940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9DDE7B-84DB-5824-6555-E888E8F42F9D}"/>
              </a:ext>
            </a:extLst>
          </p:cNvPr>
          <p:cNvSpPr>
            <a:spLocks noGrp="1"/>
          </p:cNvSpPr>
          <p:nvPr>
            <p:ph type="dt" sz="half" idx="10"/>
          </p:nvPr>
        </p:nvSpPr>
        <p:spPr/>
        <p:txBody>
          <a:bodyPr/>
          <a:lstStyle/>
          <a:p>
            <a:fld id="{5A1A503E-D323-4433-81DB-EBEB789A7B1C}" type="datetime1">
              <a:rPr lang="en-IN" smtClean="0"/>
              <a:t>28-11-2025</a:t>
            </a:fld>
            <a:endParaRPr lang="en-IN"/>
          </a:p>
        </p:txBody>
      </p:sp>
      <p:sp>
        <p:nvSpPr>
          <p:cNvPr id="5" name="Footer Placeholder 4">
            <a:extLst>
              <a:ext uri="{FF2B5EF4-FFF2-40B4-BE49-F238E27FC236}">
                <a16:creationId xmlns:a16="http://schemas.microsoft.com/office/drawing/2014/main" id="{44F2DBB1-F133-62E4-1264-78D1EC6A27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D2AB94-4AAB-162C-92E1-D1A0D71F78D1}"/>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1202250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9C865-BEFB-1D1F-D812-674B2B8E05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A50417-CA43-9CDC-78B7-8E0C568DA8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B7901E-963D-F87A-6ECE-9AACBC1E5D23}"/>
              </a:ext>
            </a:extLst>
          </p:cNvPr>
          <p:cNvSpPr>
            <a:spLocks noGrp="1"/>
          </p:cNvSpPr>
          <p:nvPr>
            <p:ph type="dt" sz="half" idx="10"/>
          </p:nvPr>
        </p:nvSpPr>
        <p:spPr/>
        <p:txBody>
          <a:bodyPr/>
          <a:lstStyle/>
          <a:p>
            <a:fld id="{D9B75B92-BE4F-4993-9AC4-2E2C4E6E5A95}" type="datetime1">
              <a:rPr lang="en-IN" smtClean="0"/>
              <a:t>28-11-2025</a:t>
            </a:fld>
            <a:endParaRPr lang="en-IN"/>
          </a:p>
        </p:txBody>
      </p:sp>
      <p:sp>
        <p:nvSpPr>
          <p:cNvPr id="5" name="Footer Placeholder 4">
            <a:extLst>
              <a:ext uri="{FF2B5EF4-FFF2-40B4-BE49-F238E27FC236}">
                <a16:creationId xmlns:a16="http://schemas.microsoft.com/office/drawing/2014/main" id="{75B66F15-13F6-FF1B-18E8-41581816B3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78AF60-52F3-52AF-8B89-B7855922F2DB}"/>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1277160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5C228-AF22-6CF5-DD47-1C4CFE556F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464A07-D3F5-1093-56BA-5B0C4A4014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9D8D34-D614-6956-DB71-3D77B46629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2D7544-71A7-BE18-617D-0108FB28C73A}"/>
              </a:ext>
            </a:extLst>
          </p:cNvPr>
          <p:cNvSpPr>
            <a:spLocks noGrp="1"/>
          </p:cNvSpPr>
          <p:nvPr>
            <p:ph type="dt" sz="half" idx="10"/>
          </p:nvPr>
        </p:nvSpPr>
        <p:spPr/>
        <p:txBody>
          <a:bodyPr/>
          <a:lstStyle/>
          <a:p>
            <a:fld id="{ECCE35F8-FA72-47E5-B60E-FBB06A0EDFA3}" type="datetime1">
              <a:rPr lang="en-IN" smtClean="0"/>
              <a:t>28-11-2025</a:t>
            </a:fld>
            <a:endParaRPr lang="en-IN"/>
          </a:p>
        </p:txBody>
      </p:sp>
      <p:sp>
        <p:nvSpPr>
          <p:cNvPr id="6" name="Footer Placeholder 5">
            <a:extLst>
              <a:ext uri="{FF2B5EF4-FFF2-40B4-BE49-F238E27FC236}">
                <a16:creationId xmlns:a16="http://schemas.microsoft.com/office/drawing/2014/main" id="{17C9B8C0-1B9D-AB9E-937A-723D5B6D49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41133A-DF6B-FF85-9F31-9A748360D86A}"/>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1885796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650E3-F84D-D3A3-2968-16C7639D82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22D2F7-E220-6744-B0E5-51C1D6C5A5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46E1F2-A0D6-28CA-45FF-BB4A2C44E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43B374-BD47-6318-C903-39F88B24F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074E0-905A-FDE6-3261-17D8785592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7E3247-A790-B274-B31E-A8F7F5A1338B}"/>
              </a:ext>
            </a:extLst>
          </p:cNvPr>
          <p:cNvSpPr>
            <a:spLocks noGrp="1"/>
          </p:cNvSpPr>
          <p:nvPr>
            <p:ph type="dt" sz="half" idx="10"/>
          </p:nvPr>
        </p:nvSpPr>
        <p:spPr/>
        <p:txBody>
          <a:bodyPr/>
          <a:lstStyle/>
          <a:p>
            <a:fld id="{C7D0C8FA-3A11-4A38-8E26-1FC27F80811A}" type="datetime1">
              <a:rPr lang="en-IN" smtClean="0"/>
              <a:t>28-11-2025</a:t>
            </a:fld>
            <a:endParaRPr lang="en-IN"/>
          </a:p>
        </p:txBody>
      </p:sp>
      <p:sp>
        <p:nvSpPr>
          <p:cNvPr id="8" name="Footer Placeholder 7">
            <a:extLst>
              <a:ext uri="{FF2B5EF4-FFF2-40B4-BE49-F238E27FC236}">
                <a16:creationId xmlns:a16="http://schemas.microsoft.com/office/drawing/2014/main" id="{5ACC6514-3274-4DD9-F817-4A8B4C184A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CF1162-215C-CBC1-E829-D86CD34FB105}"/>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1050405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61EA-D4C6-B2AA-FE11-5A7A452BEE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2CF06CF-147A-85F0-83C4-73C7553D1A6A}"/>
              </a:ext>
            </a:extLst>
          </p:cNvPr>
          <p:cNvSpPr>
            <a:spLocks noGrp="1"/>
          </p:cNvSpPr>
          <p:nvPr>
            <p:ph type="dt" sz="half" idx="10"/>
          </p:nvPr>
        </p:nvSpPr>
        <p:spPr/>
        <p:txBody>
          <a:bodyPr/>
          <a:lstStyle/>
          <a:p>
            <a:fld id="{CD8EBC12-E225-4AE5-804F-D881E2E058FF}" type="datetime1">
              <a:rPr lang="en-IN" smtClean="0"/>
              <a:t>28-11-2025</a:t>
            </a:fld>
            <a:endParaRPr lang="en-IN"/>
          </a:p>
        </p:txBody>
      </p:sp>
      <p:sp>
        <p:nvSpPr>
          <p:cNvPr id="4" name="Footer Placeholder 3">
            <a:extLst>
              <a:ext uri="{FF2B5EF4-FFF2-40B4-BE49-F238E27FC236}">
                <a16:creationId xmlns:a16="http://schemas.microsoft.com/office/drawing/2014/main" id="{8838643F-D9DC-DBBD-778B-CF75377BA8E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2BE99F-42B2-9E6B-ACFD-9E787B3AC65B}"/>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200595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88EB54-45D8-C046-9BBC-89FF8D2434EA}"/>
              </a:ext>
            </a:extLst>
          </p:cNvPr>
          <p:cNvSpPr>
            <a:spLocks noGrp="1"/>
          </p:cNvSpPr>
          <p:nvPr>
            <p:ph type="dt" sz="half" idx="10"/>
          </p:nvPr>
        </p:nvSpPr>
        <p:spPr/>
        <p:txBody>
          <a:bodyPr/>
          <a:lstStyle/>
          <a:p>
            <a:fld id="{1F3FDACD-7237-47DA-9A92-1B7022B71DBB}" type="datetime1">
              <a:rPr lang="en-IN" smtClean="0"/>
              <a:t>28-11-2025</a:t>
            </a:fld>
            <a:endParaRPr lang="en-IN"/>
          </a:p>
        </p:txBody>
      </p:sp>
      <p:sp>
        <p:nvSpPr>
          <p:cNvPr id="3" name="Footer Placeholder 2">
            <a:extLst>
              <a:ext uri="{FF2B5EF4-FFF2-40B4-BE49-F238E27FC236}">
                <a16:creationId xmlns:a16="http://schemas.microsoft.com/office/drawing/2014/main" id="{25EAE145-81BD-D979-4DA2-AD70B7A0C8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31B710-FDAE-27B9-F932-CDEDE9548551}"/>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182511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C7719-5CD2-1D52-232B-71EA89188C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EB0F98-FB7E-86C2-0D84-52DCA076B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BAD46E-32A1-42B2-A477-3C0324524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53A755-446F-4E61-8D77-8735EF6DE7F0}"/>
              </a:ext>
            </a:extLst>
          </p:cNvPr>
          <p:cNvSpPr>
            <a:spLocks noGrp="1"/>
          </p:cNvSpPr>
          <p:nvPr>
            <p:ph type="dt" sz="half" idx="10"/>
          </p:nvPr>
        </p:nvSpPr>
        <p:spPr/>
        <p:txBody>
          <a:bodyPr/>
          <a:lstStyle/>
          <a:p>
            <a:fld id="{844B6584-7C24-4B05-8473-B693081FB31C}" type="datetime1">
              <a:rPr lang="en-IN" smtClean="0"/>
              <a:t>28-11-2025</a:t>
            </a:fld>
            <a:endParaRPr lang="en-IN"/>
          </a:p>
        </p:txBody>
      </p:sp>
      <p:sp>
        <p:nvSpPr>
          <p:cNvPr id="6" name="Footer Placeholder 5">
            <a:extLst>
              <a:ext uri="{FF2B5EF4-FFF2-40B4-BE49-F238E27FC236}">
                <a16:creationId xmlns:a16="http://schemas.microsoft.com/office/drawing/2014/main" id="{B14C489B-8186-D679-109E-D228EE6089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828C98-2873-7380-F3BE-D8268E1055C7}"/>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3335083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FE75-D934-0A39-781E-5D451F163A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C3462F-F755-C275-FEBA-2B95F266B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56C9F0-98A9-2E7A-8225-6B7159786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14A7AE-811F-1F1A-B46F-697343904DF5}"/>
              </a:ext>
            </a:extLst>
          </p:cNvPr>
          <p:cNvSpPr>
            <a:spLocks noGrp="1"/>
          </p:cNvSpPr>
          <p:nvPr>
            <p:ph type="dt" sz="half" idx="10"/>
          </p:nvPr>
        </p:nvSpPr>
        <p:spPr/>
        <p:txBody>
          <a:bodyPr/>
          <a:lstStyle/>
          <a:p>
            <a:fld id="{E7B78C6D-2258-4085-82D3-1555DED05257}" type="datetime1">
              <a:rPr lang="en-IN" smtClean="0"/>
              <a:t>28-11-2025</a:t>
            </a:fld>
            <a:endParaRPr lang="en-IN"/>
          </a:p>
        </p:txBody>
      </p:sp>
      <p:sp>
        <p:nvSpPr>
          <p:cNvPr id="6" name="Footer Placeholder 5">
            <a:extLst>
              <a:ext uri="{FF2B5EF4-FFF2-40B4-BE49-F238E27FC236}">
                <a16:creationId xmlns:a16="http://schemas.microsoft.com/office/drawing/2014/main" id="{ABD13CCB-6247-7D6E-F0CA-F57C879001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A7F1AA-D6F8-D41F-B676-703BEE701B86}"/>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171485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0A545-BAD0-8F84-3918-FCEC711FD0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B1953B-8086-E86E-E7EF-3EA6873B39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B684F-814E-7C01-4300-2E0715F37A47}"/>
              </a:ext>
            </a:extLst>
          </p:cNvPr>
          <p:cNvSpPr>
            <a:spLocks noGrp="1"/>
          </p:cNvSpPr>
          <p:nvPr>
            <p:ph type="dt" sz="half" idx="10"/>
          </p:nvPr>
        </p:nvSpPr>
        <p:spPr/>
        <p:txBody>
          <a:bodyPr/>
          <a:lstStyle/>
          <a:p>
            <a:fld id="{C8068065-2917-4476-9DD3-4B795C0EF8FD}" type="datetime1">
              <a:rPr lang="en-IN" smtClean="0"/>
              <a:t>28-11-2025</a:t>
            </a:fld>
            <a:endParaRPr lang="en-IN"/>
          </a:p>
        </p:txBody>
      </p:sp>
      <p:sp>
        <p:nvSpPr>
          <p:cNvPr id="5" name="Footer Placeholder 4">
            <a:extLst>
              <a:ext uri="{FF2B5EF4-FFF2-40B4-BE49-F238E27FC236}">
                <a16:creationId xmlns:a16="http://schemas.microsoft.com/office/drawing/2014/main" id="{C2A31A44-5360-00B0-82B2-BDA8CBE5AC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9F6D2-03AF-4D46-F832-34F9CEACC21E}"/>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370408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05BC2E-F951-EA53-FA98-135EEBC06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B6C983-CA5F-C28B-C50C-142A994003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390DEA-FD26-14AA-C4CD-FFBC89605CD6}"/>
              </a:ext>
            </a:extLst>
          </p:cNvPr>
          <p:cNvSpPr>
            <a:spLocks noGrp="1"/>
          </p:cNvSpPr>
          <p:nvPr>
            <p:ph type="dt" sz="half" idx="10"/>
          </p:nvPr>
        </p:nvSpPr>
        <p:spPr/>
        <p:txBody>
          <a:bodyPr/>
          <a:lstStyle/>
          <a:p>
            <a:fld id="{DC009D28-B138-4D47-9F1D-A5544602D0F5}" type="datetime1">
              <a:rPr lang="en-IN" smtClean="0"/>
              <a:t>28-11-2025</a:t>
            </a:fld>
            <a:endParaRPr lang="en-IN"/>
          </a:p>
        </p:txBody>
      </p:sp>
      <p:sp>
        <p:nvSpPr>
          <p:cNvPr id="5" name="Footer Placeholder 4">
            <a:extLst>
              <a:ext uri="{FF2B5EF4-FFF2-40B4-BE49-F238E27FC236}">
                <a16:creationId xmlns:a16="http://schemas.microsoft.com/office/drawing/2014/main" id="{7029310E-ABF1-0147-9EC0-6589C7F181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AA2274-E8A2-5A88-0CF7-3B3A17A085C8}"/>
              </a:ext>
            </a:extLst>
          </p:cNvPr>
          <p:cNvSpPr>
            <a:spLocks noGrp="1"/>
          </p:cNvSpPr>
          <p:nvPr>
            <p:ph type="sldNum" sz="quarter" idx="12"/>
          </p:nvPr>
        </p:nvSpPr>
        <p:spPr/>
        <p:txBody>
          <a:bodyPr/>
          <a:lstStyle/>
          <a:p>
            <a:fld id="{81A835E2-40D7-45A2-9147-8DCED05EC221}" type="slidenum">
              <a:rPr lang="en-IN" smtClean="0"/>
              <a:t>‹#›</a:t>
            </a:fld>
            <a:endParaRPr lang="en-IN"/>
          </a:p>
        </p:txBody>
      </p:sp>
    </p:spTree>
    <p:extLst>
      <p:ext uri="{BB962C8B-B14F-4D97-AF65-F5344CB8AC3E}">
        <p14:creationId xmlns:p14="http://schemas.microsoft.com/office/powerpoint/2010/main" val="2707795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E0BBCE-7158-FCC4-A773-96708854B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A60581-945E-3B17-39E0-5477C243B0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AB1034-1316-6253-3DEE-873920DB2F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D4229-AB66-4D1C-B258-1C95C7A76BD6}" type="datetime1">
              <a:rPr lang="en-IN" smtClean="0"/>
              <a:t>28-11-2025</a:t>
            </a:fld>
            <a:endParaRPr lang="en-IN"/>
          </a:p>
        </p:txBody>
      </p:sp>
      <p:sp>
        <p:nvSpPr>
          <p:cNvPr id="5" name="Footer Placeholder 4">
            <a:extLst>
              <a:ext uri="{FF2B5EF4-FFF2-40B4-BE49-F238E27FC236}">
                <a16:creationId xmlns:a16="http://schemas.microsoft.com/office/drawing/2014/main" id="{FFD669C5-D919-C7B0-39B5-BE013FD6E3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3B5675E-974D-4698-4799-80E8C8884F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A835E2-40D7-45A2-9147-8DCED05EC221}" type="slidenum">
              <a:rPr lang="en-IN" smtClean="0"/>
              <a:t>‹#›</a:t>
            </a:fld>
            <a:endParaRPr lang="en-IN"/>
          </a:p>
        </p:txBody>
      </p:sp>
    </p:spTree>
    <p:extLst>
      <p:ext uri="{BB962C8B-B14F-4D97-AF65-F5344CB8AC3E}">
        <p14:creationId xmlns:p14="http://schemas.microsoft.com/office/powerpoint/2010/main" val="1489496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7933A7-B9F1-53BA-2D71-765F8210EB66}"/>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04682BC2-CC7C-2E3A-6BAD-8EC7434BF78C}"/>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7" name="Picture 2" descr="A logo for a company&#10;&#10;AI-generated content may be incorrect.">
            <a:extLst>
              <a:ext uri="{FF2B5EF4-FFF2-40B4-BE49-F238E27FC236}">
                <a16:creationId xmlns:a16="http://schemas.microsoft.com/office/drawing/2014/main" id="{D08097BC-AB6D-CE51-DF5F-1ADB5D444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a:extLst>
              <a:ext uri="{FF2B5EF4-FFF2-40B4-BE49-F238E27FC236}">
                <a16:creationId xmlns:a16="http://schemas.microsoft.com/office/drawing/2014/main" id="{3612EA54-8080-455F-091B-91210396D2B1}"/>
              </a:ext>
            </a:extLst>
          </p:cNvPr>
          <p:cNvGraphicFramePr>
            <a:graphicFrameLocks noGrp="1"/>
          </p:cNvGraphicFramePr>
          <p:nvPr>
            <p:extLst>
              <p:ext uri="{D42A27DB-BD31-4B8C-83A1-F6EECF244321}">
                <p14:modId xmlns:p14="http://schemas.microsoft.com/office/powerpoint/2010/main" val="4116181235"/>
              </p:ext>
            </p:extLst>
          </p:nvPr>
        </p:nvGraphicFramePr>
        <p:xfrm>
          <a:off x="919419" y="86417"/>
          <a:ext cx="10326214" cy="759206"/>
        </p:xfrm>
        <a:graphic>
          <a:graphicData uri="http://schemas.openxmlformats.org/drawingml/2006/table">
            <a:tbl>
              <a:tblPr firstRow="1" firstCol="1" bandRow="1">
                <a:tableStyleId>{5C22544A-7EE6-4342-B048-85BDC9FD1C3A}</a:tableStyleId>
              </a:tblPr>
              <a:tblGrid>
                <a:gridCol w="10326214">
                  <a:extLst>
                    <a:ext uri="{9D8B030D-6E8A-4147-A177-3AD203B41FA5}">
                      <a16:colId xmlns:a16="http://schemas.microsoft.com/office/drawing/2014/main" val="1495461617"/>
                    </a:ext>
                  </a:extLst>
                </a:gridCol>
              </a:tblGrid>
              <a:tr h="698044">
                <a:tc>
                  <a:txBody>
                    <a:bodyPr/>
                    <a:lstStyle/>
                    <a:p>
                      <a:pPr algn="ctr">
                        <a:lnSpc>
                          <a:spcPct val="115000"/>
                        </a:lnSpc>
                        <a:spcAft>
                          <a:spcPts val="0"/>
                        </a:spcAft>
                        <a:buNone/>
                      </a:pPr>
                      <a:r>
                        <a:rPr lang="en-IN" sz="3600" b="1" kern="0" dirty="0">
                          <a:solidFill>
                            <a:schemeClr val="accent2">
                              <a:lumMod val="50000"/>
                            </a:schemeClr>
                          </a:solidFill>
                          <a:effectLst/>
                          <a:latin typeface="Cambria" panose="02040503050406030204" pitchFamily="18" charset="0"/>
                          <a:ea typeface="Cambria" panose="02040503050406030204" pitchFamily="18" charset="0"/>
                        </a:rPr>
                        <a:t>SAI VIDYA INSTITUTE OF TECHNOLOGY</a:t>
                      </a:r>
                    </a:p>
                    <a:p>
                      <a:pPr algn="ctr">
                        <a:lnSpc>
                          <a:spcPct val="115000"/>
                        </a:lnSpc>
                        <a:spcAft>
                          <a:spcPts val="0"/>
                        </a:spcAft>
                        <a:buNone/>
                      </a:pPr>
                      <a:r>
                        <a:rPr lang="en-IN" sz="800" b="1" kern="0" dirty="0">
                          <a:solidFill>
                            <a:schemeClr val="accent2">
                              <a:lumMod val="50000"/>
                            </a:schemeClr>
                          </a:solidFill>
                          <a:effectLst/>
                          <a:latin typeface="Cambria" panose="02040503050406030204" pitchFamily="18" charset="0"/>
                          <a:ea typeface="Cambria" panose="02040503050406030204" pitchFamily="18" charset="0"/>
                        </a:rPr>
                        <a:t>Approved by AICTE, New Delhi, Affiliated to VTU, Recognized by Govt. of Karnataka, Accredited by NBA, New Delhi (CSE, ECE. ISE) NAAC "A" Grade</a:t>
                      </a:r>
                      <a:endParaRPr lang="en-IN" sz="1200" b="1" kern="100" dirty="0">
                        <a:solidFill>
                          <a:schemeClr val="accent2">
                            <a:lumMod val="50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90040110"/>
                  </a:ext>
                </a:extLst>
              </a:tr>
            </a:tbl>
          </a:graphicData>
        </a:graphic>
      </p:graphicFrame>
      <p:graphicFrame>
        <p:nvGraphicFramePr>
          <p:cNvPr id="10" name="Table 9">
            <a:extLst>
              <a:ext uri="{FF2B5EF4-FFF2-40B4-BE49-F238E27FC236}">
                <a16:creationId xmlns:a16="http://schemas.microsoft.com/office/drawing/2014/main" id="{145DD611-DCB9-E004-CD3D-C8A49C196636}"/>
              </a:ext>
            </a:extLst>
          </p:cNvPr>
          <p:cNvGraphicFramePr>
            <a:graphicFrameLocks noGrp="1"/>
          </p:cNvGraphicFramePr>
          <p:nvPr>
            <p:extLst>
              <p:ext uri="{D42A27DB-BD31-4B8C-83A1-F6EECF244321}">
                <p14:modId xmlns:p14="http://schemas.microsoft.com/office/powerpoint/2010/main" val="2759124058"/>
              </p:ext>
            </p:extLst>
          </p:nvPr>
        </p:nvGraphicFramePr>
        <p:xfrm>
          <a:off x="26536" y="1021902"/>
          <a:ext cx="12121919" cy="914400"/>
        </p:xfrm>
        <a:graphic>
          <a:graphicData uri="http://schemas.openxmlformats.org/drawingml/2006/table">
            <a:tbl>
              <a:tblPr firstRow="1" firstCol="1" bandRow="1">
                <a:tableStyleId>{5C22544A-7EE6-4342-B048-85BDC9FD1C3A}</a:tableStyleId>
              </a:tblPr>
              <a:tblGrid>
                <a:gridCol w="12121919">
                  <a:extLst>
                    <a:ext uri="{9D8B030D-6E8A-4147-A177-3AD203B41FA5}">
                      <a16:colId xmlns:a16="http://schemas.microsoft.com/office/drawing/2014/main" val="1495461617"/>
                    </a:ext>
                  </a:extLst>
                </a:gridCol>
              </a:tblGrid>
              <a:tr h="914400">
                <a:tc>
                  <a:txBody>
                    <a:bodyPr/>
                    <a:lstStyle/>
                    <a:p>
                      <a:pPr algn="ctr">
                        <a:lnSpc>
                          <a:spcPct val="115000"/>
                        </a:lnSpc>
                        <a:spcAft>
                          <a:spcPts val="0"/>
                        </a:spcAft>
                        <a:buNone/>
                      </a:pPr>
                      <a:r>
                        <a:rPr lang="en-IN" sz="2800" b="1" kern="0" dirty="0">
                          <a:solidFill>
                            <a:schemeClr val="accent4">
                              <a:lumMod val="50000"/>
                            </a:schemeClr>
                          </a:solidFill>
                          <a:effectLst/>
                          <a:latin typeface="Cambria" panose="02040503050406030204" pitchFamily="18" charset="0"/>
                          <a:ea typeface="Cambria" panose="02040503050406030204" pitchFamily="18" charset="0"/>
                        </a:rPr>
                        <a:t>DEPARTMENT OF COMPUTER SCIENCE AND ENGINEERING</a:t>
                      </a:r>
                    </a:p>
                    <a:p>
                      <a:pPr algn="ctr">
                        <a:lnSpc>
                          <a:spcPct val="115000"/>
                        </a:lnSpc>
                        <a:spcAft>
                          <a:spcPts val="0"/>
                        </a:spcAft>
                        <a:buNone/>
                      </a:pPr>
                      <a:r>
                        <a:rPr lang="en-IN" sz="2000" b="1" kern="0" dirty="0">
                          <a:solidFill>
                            <a:schemeClr val="accent4">
                              <a:lumMod val="50000"/>
                            </a:schemeClr>
                          </a:solidFill>
                          <a:effectLst/>
                          <a:latin typeface="Cambria" panose="02040503050406030204" pitchFamily="18" charset="0"/>
                          <a:ea typeface="Cambria" panose="02040503050406030204" pitchFamily="18" charset="0"/>
                        </a:rPr>
                        <a:t>BCS586: MINI PROJECT</a:t>
                      </a: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graphicFrame>
        <p:nvGraphicFramePr>
          <p:cNvPr id="11" name="Table 10">
            <a:extLst>
              <a:ext uri="{FF2B5EF4-FFF2-40B4-BE49-F238E27FC236}">
                <a16:creationId xmlns:a16="http://schemas.microsoft.com/office/drawing/2014/main" id="{F5F3849C-5AC3-4C56-9E70-DCC699387AA0}"/>
              </a:ext>
            </a:extLst>
          </p:cNvPr>
          <p:cNvGraphicFramePr>
            <a:graphicFrameLocks noGrp="1"/>
          </p:cNvGraphicFramePr>
          <p:nvPr>
            <p:extLst>
              <p:ext uri="{D42A27DB-BD31-4B8C-83A1-F6EECF244321}">
                <p14:modId xmlns:p14="http://schemas.microsoft.com/office/powerpoint/2010/main" val="4046438918"/>
              </p:ext>
            </p:extLst>
          </p:nvPr>
        </p:nvGraphicFramePr>
        <p:xfrm>
          <a:off x="70082" y="2552390"/>
          <a:ext cx="12023500" cy="539154"/>
        </p:xfrm>
        <a:graphic>
          <a:graphicData uri="http://schemas.openxmlformats.org/drawingml/2006/table">
            <a:tbl>
              <a:tblPr firstRow="1" firstCol="1" bandRow="1">
                <a:tableStyleId>{5C22544A-7EE6-4342-B048-85BDC9FD1C3A}</a:tableStyleId>
              </a:tblPr>
              <a:tblGrid>
                <a:gridCol w="12023500">
                  <a:extLst>
                    <a:ext uri="{9D8B030D-6E8A-4147-A177-3AD203B41FA5}">
                      <a16:colId xmlns:a16="http://schemas.microsoft.com/office/drawing/2014/main" val="1495461617"/>
                    </a:ext>
                  </a:extLst>
                </a:gridCol>
              </a:tblGrid>
              <a:tr h="539154">
                <a:tc>
                  <a:txBody>
                    <a:bodyPr/>
                    <a:lstStyle/>
                    <a:p>
                      <a:pPr algn="ctr">
                        <a:lnSpc>
                          <a:spcPct val="115000"/>
                        </a:lnSpc>
                        <a:spcAft>
                          <a:spcPts val="0"/>
                        </a:spcAft>
                        <a:buNone/>
                      </a:pPr>
                      <a:r>
                        <a:rPr lang="en-US" sz="3200" b="1" kern="0" dirty="0">
                          <a:solidFill>
                            <a:schemeClr val="accent1">
                              <a:lumMod val="50000"/>
                            </a:schemeClr>
                          </a:solidFill>
                          <a:effectLst/>
                          <a:latin typeface="Cambria" panose="02040503050406030204" pitchFamily="18" charset="0"/>
                          <a:ea typeface="Cambria" panose="02040503050406030204" pitchFamily="18" charset="0"/>
                        </a:rPr>
                        <a:t>AI-Driven Decision Support for Veterinary Management</a:t>
                      </a:r>
                      <a:endParaRPr lang="en-IN" sz="3200" b="1" kern="0" dirty="0">
                        <a:solidFill>
                          <a:schemeClr val="accent1">
                            <a:lumMod val="50000"/>
                          </a:schemeClr>
                        </a:solidFill>
                        <a:effectLst/>
                        <a:latin typeface="Cambria" panose="02040503050406030204" pitchFamily="18" charset="0"/>
                        <a:ea typeface="Cambria" panose="020405030504060302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graphicFrame>
        <p:nvGraphicFramePr>
          <p:cNvPr id="12" name="Table 11">
            <a:extLst>
              <a:ext uri="{FF2B5EF4-FFF2-40B4-BE49-F238E27FC236}">
                <a16:creationId xmlns:a16="http://schemas.microsoft.com/office/drawing/2014/main" id="{3AA46C8B-6B63-AC65-6CC9-094946C9CF67}"/>
              </a:ext>
            </a:extLst>
          </p:cNvPr>
          <p:cNvGraphicFramePr>
            <a:graphicFrameLocks noGrp="1"/>
          </p:cNvGraphicFramePr>
          <p:nvPr>
            <p:extLst>
              <p:ext uri="{D42A27DB-BD31-4B8C-83A1-F6EECF244321}">
                <p14:modId xmlns:p14="http://schemas.microsoft.com/office/powerpoint/2010/main" val="3807962144"/>
              </p:ext>
            </p:extLst>
          </p:nvPr>
        </p:nvGraphicFramePr>
        <p:xfrm>
          <a:off x="222482" y="4118646"/>
          <a:ext cx="5568718" cy="2201482"/>
        </p:xfrm>
        <a:graphic>
          <a:graphicData uri="http://schemas.openxmlformats.org/drawingml/2006/table">
            <a:tbl>
              <a:tblPr firstRow="1" firstCol="1" bandRow="1">
                <a:tableStyleId>{5C22544A-7EE6-4342-B048-85BDC9FD1C3A}</a:tableStyleId>
              </a:tblPr>
              <a:tblGrid>
                <a:gridCol w="5568718">
                  <a:extLst>
                    <a:ext uri="{9D8B030D-6E8A-4147-A177-3AD203B41FA5}">
                      <a16:colId xmlns:a16="http://schemas.microsoft.com/office/drawing/2014/main" val="1495461617"/>
                    </a:ext>
                  </a:extLst>
                </a:gridCol>
              </a:tblGrid>
              <a:tr h="658900">
                <a:tc>
                  <a:txBody>
                    <a:bodyPr/>
                    <a:lstStyle/>
                    <a:p>
                      <a:pPr algn="l">
                        <a:lnSpc>
                          <a:spcPct val="115000"/>
                        </a:lnSpc>
                        <a:spcAft>
                          <a:spcPts val="0"/>
                        </a:spcAft>
                        <a:buNone/>
                      </a:pPr>
                      <a:r>
                        <a:rPr lang="en-IN" sz="2400" b="1" kern="0" dirty="0">
                          <a:solidFill>
                            <a:schemeClr val="accent1">
                              <a:lumMod val="50000"/>
                            </a:schemeClr>
                          </a:solidFill>
                          <a:effectLst/>
                          <a:latin typeface="Cambria" panose="02040503050406030204" pitchFamily="18" charset="0"/>
                          <a:ea typeface="Cambria" panose="02040503050406030204" pitchFamily="18" charset="0"/>
                        </a:rPr>
                        <a:t>PRESENTED</a:t>
                      </a:r>
                      <a:r>
                        <a:rPr lang="en-IN" sz="2800" b="1" kern="0" dirty="0">
                          <a:solidFill>
                            <a:schemeClr val="accent1">
                              <a:lumMod val="50000"/>
                            </a:schemeClr>
                          </a:solidFill>
                          <a:effectLst/>
                          <a:latin typeface="Cambria" panose="02040503050406030204" pitchFamily="18" charset="0"/>
                          <a:ea typeface="Cambria" panose="02040503050406030204" pitchFamily="18" charset="0"/>
                        </a:rPr>
                        <a:t> </a:t>
                      </a:r>
                      <a:r>
                        <a:rPr lang="en-IN" sz="2400" b="1" kern="0" dirty="0">
                          <a:solidFill>
                            <a:schemeClr val="accent1">
                              <a:lumMod val="50000"/>
                            </a:schemeClr>
                          </a:solidFill>
                          <a:effectLst/>
                          <a:latin typeface="Cambria" panose="02040503050406030204" pitchFamily="18" charset="0"/>
                          <a:ea typeface="Cambria" panose="02040503050406030204" pitchFamily="18" charset="0"/>
                        </a:rPr>
                        <a:t>BY</a:t>
                      </a:r>
                      <a:r>
                        <a:rPr lang="en-IN" sz="2800" b="1" kern="0" dirty="0">
                          <a:solidFill>
                            <a:schemeClr val="accent1">
                              <a:lumMod val="50000"/>
                            </a:schemeClr>
                          </a:solidFill>
                          <a:effectLst/>
                          <a:latin typeface="Cambria" panose="02040503050406030204" pitchFamily="18" charset="0"/>
                          <a:ea typeface="Cambria" panose="02040503050406030204" pitchFamily="18" charset="0"/>
                        </a:rPr>
                        <a:t>,</a:t>
                      </a:r>
                      <a:endParaRPr lang="en-IN" sz="2000" b="1" kern="0" dirty="0">
                        <a:solidFill>
                          <a:schemeClr val="accent1">
                            <a:lumMod val="50000"/>
                          </a:schemeClr>
                        </a:solidFill>
                        <a:effectLst/>
                        <a:latin typeface="Cambria" panose="02040503050406030204" pitchFamily="18" charset="0"/>
                        <a:ea typeface="Cambria" panose="020405030504060302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lang="en-IN" sz="1800" b="1" kern="0" dirty="0">
                          <a:solidFill>
                            <a:schemeClr val="accent1">
                              <a:lumMod val="50000"/>
                            </a:schemeClr>
                          </a:solidFill>
                          <a:effectLst/>
                          <a:latin typeface="Cambria" panose="02040503050406030204" pitchFamily="18" charset="0"/>
                          <a:ea typeface="Cambria" panose="02040503050406030204" pitchFamily="18" charset="0"/>
                        </a:rPr>
                        <a:t>MAHIMA K                        (1VA23CS092)</a:t>
                      </a:r>
                    </a:p>
                    <a:p>
                      <a:pPr marL="0" marR="0" lvl="0" indent="0" algn="l" defTabSz="914400" rtl="0" eaLnBrk="1" fontAlgn="auto" latinLnBrk="0" hangingPunct="1">
                        <a:lnSpc>
                          <a:spcPct val="115000"/>
                        </a:lnSpc>
                        <a:spcBef>
                          <a:spcPts val="0"/>
                        </a:spcBef>
                        <a:spcAft>
                          <a:spcPts val="0"/>
                        </a:spcAft>
                        <a:buClrTx/>
                        <a:buSzTx/>
                        <a:buFontTx/>
                        <a:buNone/>
                        <a:tabLst/>
                        <a:defRPr/>
                      </a:pPr>
                      <a:r>
                        <a:rPr lang="en-IN" sz="1800" b="1" kern="0" dirty="0">
                          <a:solidFill>
                            <a:schemeClr val="accent1">
                              <a:lumMod val="50000"/>
                            </a:schemeClr>
                          </a:solidFill>
                          <a:effectLst/>
                          <a:latin typeface="Cambria" panose="02040503050406030204" pitchFamily="18" charset="0"/>
                          <a:ea typeface="Cambria" panose="02040503050406030204" pitchFamily="18" charset="0"/>
                        </a:rPr>
                        <a:t>NIHARIKA M KODIGE   (1VA23CS105)</a:t>
                      </a:r>
                    </a:p>
                    <a:p>
                      <a:pPr marL="0" marR="0" lvl="0" indent="0" algn="l" defTabSz="914400" rtl="0" eaLnBrk="1" fontAlgn="auto" latinLnBrk="0" hangingPunct="1">
                        <a:lnSpc>
                          <a:spcPct val="115000"/>
                        </a:lnSpc>
                        <a:spcBef>
                          <a:spcPts val="0"/>
                        </a:spcBef>
                        <a:spcAft>
                          <a:spcPts val="0"/>
                        </a:spcAft>
                        <a:buClrTx/>
                        <a:buSzTx/>
                        <a:buFontTx/>
                        <a:buNone/>
                        <a:tabLst/>
                        <a:defRPr/>
                      </a:pPr>
                      <a:r>
                        <a:rPr lang="en-IN" sz="1800" b="1" kern="0" dirty="0">
                          <a:solidFill>
                            <a:schemeClr val="accent1">
                              <a:lumMod val="50000"/>
                            </a:schemeClr>
                          </a:solidFill>
                          <a:effectLst/>
                          <a:latin typeface="Cambria" panose="02040503050406030204" pitchFamily="18" charset="0"/>
                          <a:ea typeface="Cambria" panose="02040503050406030204" pitchFamily="18" charset="0"/>
                        </a:rPr>
                        <a:t>RANJANA H                       (1VA23CS129)</a:t>
                      </a:r>
                    </a:p>
                    <a:p>
                      <a:pPr marL="0" marR="0" lvl="0" indent="0" algn="l" defTabSz="914400" rtl="0" eaLnBrk="1" fontAlgn="auto" latinLnBrk="0" hangingPunct="1">
                        <a:lnSpc>
                          <a:spcPct val="115000"/>
                        </a:lnSpc>
                        <a:spcBef>
                          <a:spcPts val="0"/>
                        </a:spcBef>
                        <a:spcAft>
                          <a:spcPts val="0"/>
                        </a:spcAft>
                        <a:buClrTx/>
                        <a:buSzTx/>
                        <a:buFontTx/>
                        <a:buNone/>
                        <a:tabLst/>
                        <a:defRPr/>
                      </a:pPr>
                      <a:r>
                        <a:rPr lang="en-IN" sz="1800" b="1" kern="0" dirty="0">
                          <a:solidFill>
                            <a:schemeClr val="accent1">
                              <a:lumMod val="50000"/>
                            </a:schemeClr>
                          </a:solidFill>
                          <a:effectLst/>
                          <a:latin typeface="Cambria" panose="02040503050406030204" pitchFamily="18" charset="0"/>
                          <a:ea typeface="Cambria" panose="02040503050406030204" pitchFamily="18" charset="0"/>
                        </a:rPr>
                        <a:t>SM PARKAVI                    (1VA23CS134)</a:t>
                      </a:r>
                    </a:p>
                    <a:p>
                      <a:pPr algn="l">
                        <a:lnSpc>
                          <a:spcPct val="115000"/>
                        </a:lnSpc>
                        <a:spcAft>
                          <a:spcPts val="0"/>
                        </a:spcAft>
                        <a:buNone/>
                      </a:pPr>
                      <a:endParaRPr lang="en-IN" sz="2800" b="1" kern="0" dirty="0">
                        <a:solidFill>
                          <a:schemeClr val="accent1">
                            <a:lumMod val="50000"/>
                          </a:schemeClr>
                        </a:solidFill>
                        <a:effectLst/>
                        <a:latin typeface="Cambria" panose="02040503050406030204" pitchFamily="18" charset="0"/>
                        <a:ea typeface="Cambria" panose="020405030504060302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graphicFrame>
        <p:nvGraphicFramePr>
          <p:cNvPr id="13" name="Table 12">
            <a:extLst>
              <a:ext uri="{FF2B5EF4-FFF2-40B4-BE49-F238E27FC236}">
                <a16:creationId xmlns:a16="http://schemas.microsoft.com/office/drawing/2014/main" id="{5FF79B35-BED4-3FE3-46A4-B19F1D87CB43}"/>
              </a:ext>
            </a:extLst>
          </p:cNvPr>
          <p:cNvGraphicFramePr>
            <a:graphicFrameLocks noGrp="1"/>
          </p:cNvGraphicFramePr>
          <p:nvPr>
            <p:extLst>
              <p:ext uri="{D42A27DB-BD31-4B8C-83A1-F6EECF244321}">
                <p14:modId xmlns:p14="http://schemas.microsoft.com/office/powerpoint/2010/main" val="3641183321"/>
              </p:ext>
            </p:extLst>
          </p:nvPr>
        </p:nvGraphicFramePr>
        <p:xfrm>
          <a:off x="6400802" y="4136984"/>
          <a:ext cx="5568718" cy="1815910"/>
        </p:xfrm>
        <a:graphic>
          <a:graphicData uri="http://schemas.openxmlformats.org/drawingml/2006/table">
            <a:tbl>
              <a:tblPr firstRow="1" firstCol="1" bandRow="1">
                <a:tableStyleId>{5C22544A-7EE6-4342-B048-85BDC9FD1C3A}</a:tableStyleId>
              </a:tblPr>
              <a:tblGrid>
                <a:gridCol w="5568718">
                  <a:extLst>
                    <a:ext uri="{9D8B030D-6E8A-4147-A177-3AD203B41FA5}">
                      <a16:colId xmlns:a16="http://schemas.microsoft.com/office/drawing/2014/main" val="1495461617"/>
                    </a:ext>
                  </a:extLst>
                </a:gridCol>
              </a:tblGrid>
              <a:tr h="658900">
                <a:tc>
                  <a:txBody>
                    <a:bodyPr/>
                    <a:lstStyle/>
                    <a:p>
                      <a:pPr algn="l">
                        <a:lnSpc>
                          <a:spcPct val="115000"/>
                        </a:lnSpc>
                        <a:spcAft>
                          <a:spcPts val="0"/>
                        </a:spcAft>
                        <a:buNone/>
                      </a:pPr>
                      <a:r>
                        <a:rPr lang="en-IN" sz="2400" b="1" kern="0" dirty="0">
                          <a:solidFill>
                            <a:schemeClr val="accent1">
                              <a:lumMod val="50000"/>
                            </a:schemeClr>
                          </a:solidFill>
                          <a:effectLst/>
                          <a:latin typeface="Cambria" panose="02040503050406030204" pitchFamily="18" charset="0"/>
                          <a:ea typeface="Cambria" panose="02040503050406030204" pitchFamily="18" charset="0"/>
                        </a:rPr>
                        <a:t>UNDER THE SUPERVISION OF,</a:t>
                      </a:r>
                      <a:endParaRPr lang="en-IN" sz="2000" b="1" kern="0" dirty="0">
                        <a:solidFill>
                          <a:schemeClr val="accent1">
                            <a:lumMod val="50000"/>
                          </a:schemeClr>
                        </a:solidFill>
                        <a:effectLst/>
                        <a:latin typeface="Cambria" panose="02040503050406030204" pitchFamily="18" charset="0"/>
                        <a:ea typeface="Cambria" panose="02040503050406030204" pitchFamily="18" charset="0"/>
                      </a:endParaRPr>
                    </a:p>
                    <a:p>
                      <a:pPr algn="l">
                        <a:lnSpc>
                          <a:spcPct val="115000"/>
                        </a:lnSpc>
                        <a:spcAft>
                          <a:spcPts val="0"/>
                        </a:spcAft>
                        <a:buNone/>
                      </a:pPr>
                      <a:r>
                        <a:rPr lang="en-IN" sz="1800" b="1" kern="0" dirty="0">
                          <a:solidFill>
                            <a:schemeClr val="accent1">
                              <a:lumMod val="50000"/>
                            </a:schemeClr>
                          </a:solidFill>
                          <a:effectLst/>
                          <a:latin typeface="Cambria" panose="02040503050406030204" pitchFamily="18" charset="0"/>
                          <a:ea typeface="Cambria" panose="02040503050406030204" pitchFamily="18" charset="0"/>
                        </a:rPr>
                        <a:t>Dr. VARUN E,</a:t>
                      </a:r>
                    </a:p>
                    <a:p>
                      <a:pPr marL="0" marR="0" lvl="0" indent="0" algn="l" defTabSz="914400" rtl="0" eaLnBrk="1" fontAlgn="auto" latinLnBrk="0" hangingPunct="1">
                        <a:lnSpc>
                          <a:spcPct val="115000"/>
                        </a:lnSpc>
                        <a:spcBef>
                          <a:spcPts val="0"/>
                        </a:spcBef>
                        <a:spcAft>
                          <a:spcPts val="0"/>
                        </a:spcAft>
                        <a:buClrTx/>
                        <a:buSzTx/>
                        <a:buFontTx/>
                        <a:buNone/>
                        <a:tabLst/>
                        <a:defRPr/>
                      </a:pPr>
                      <a:r>
                        <a:rPr lang="en-IN" sz="1800" b="1" kern="0" dirty="0">
                          <a:solidFill>
                            <a:schemeClr val="accent1">
                              <a:lumMod val="50000"/>
                            </a:schemeClr>
                          </a:solidFill>
                          <a:effectLst/>
                          <a:latin typeface="Cambria" panose="02040503050406030204" pitchFamily="18" charset="0"/>
                          <a:ea typeface="Cambria" panose="02040503050406030204" pitchFamily="18" charset="0"/>
                        </a:rPr>
                        <a:t>Associate Professor.,</a:t>
                      </a:r>
                    </a:p>
                    <a:p>
                      <a:pPr marL="0" marR="0" lvl="0" indent="0" algn="l" defTabSz="914400" rtl="0" eaLnBrk="1" fontAlgn="auto" latinLnBrk="0" hangingPunct="1">
                        <a:lnSpc>
                          <a:spcPct val="115000"/>
                        </a:lnSpc>
                        <a:spcBef>
                          <a:spcPts val="0"/>
                        </a:spcBef>
                        <a:spcAft>
                          <a:spcPts val="0"/>
                        </a:spcAft>
                        <a:buClrTx/>
                        <a:buSzTx/>
                        <a:buFontTx/>
                        <a:buNone/>
                        <a:tabLst/>
                        <a:defRPr/>
                      </a:pPr>
                      <a:r>
                        <a:rPr lang="en-IN" sz="1800" b="1" kern="0" dirty="0">
                          <a:solidFill>
                            <a:schemeClr val="accent1">
                              <a:lumMod val="50000"/>
                            </a:schemeClr>
                          </a:solidFill>
                          <a:effectLst/>
                          <a:latin typeface="Cambria" panose="02040503050406030204" pitchFamily="18" charset="0"/>
                          <a:ea typeface="Cambria" panose="02040503050406030204" pitchFamily="18" charset="0"/>
                        </a:rPr>
                        <a:t>DEPT., OF CSE., SVIT</a:t>
                      </a:r>
                    </a:p>
                    <a:p>
                      <a:pPr algn="l">
                        <a:lnSpc>
                          <a:spcPct val="115000"/>
                        </a:lnSpc>
                        <a:spcAft>
                          <a:spcPts val="0"/>
                        </a:spcAft>
                        <a:buNone/>
                      </a:pPr>
                      <a:endParaRPr lang="en-IN" sz="2800" b="1" kern="0" dirty="0">
                        <a:solidFill>
                          <a:schemeClr val="accent1">
                            <a:lumMod val="50000"/>
                          </a:schemeClr>
                        </a:solidFill>
                        <a:effectLst/>
                        <a:latin typeface="Cambria" panose="02040503050406030204" pitchFamily="18" charset="0"/>
                        <a:ea typeface="Cambria" panose="020405030504060302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DFAED524-517F-EF2E-7888-8A7BE05963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VTU-Logo-250×250 – SJB INSTITUTE OF TECHNOLOGY">
            <a:extLst>
              <a:ext uri="{FF2B5EF4-FFF2-40B4-BE49-F238E27FC236}">
                <a16:creationId xmlns:a16="http://schemas.microsoft.com/office/drawing/2014/main" id="{2004FB7F-EF00-F30B-587C-C88DA409890F}"/>
              </a:ext>
            </a:extLst>
          </p:cNvPr>
          <p:cNvPicPr>
            <a:picLocks noChangeAspect="1" noChangeArrowheads="1"/>
          </p:cNvPicPr>
          <p:nvPr/>
        </p:nvPicPr>
        <p:blipFill>
          <a:blip r:embed="rId4">
            <a:alphaModFix amt="5000"/>
            <a:extLst>
              <a:ext uri="{28A0092B-C50C-407E-A947-70E740481C1C}">
                <a14:useLocalDpi xmlns:a14="http://schemas.microsoft.com/office/drawing/2010/main" val="0"/>
              </a:ext>
            </a:extLst>
          </a:blip>
          <a:srcRect/>
          <a:stretch>
            <a:fillRect/>
          </a:stretch>
        </p:blipFill>
        <p:spPr bwMode="auto">
          <a:xfrm>
            <a:off x="2706090" y="889827"/>
            <a:ext cx="5678487" cy="5678487"/>
          </a:xfrm>
          <a:prstGeom prst="rect">
            <a:avLst/>
          </a:prstGeom>
          <a:noFill/>
          <a:ln>
            <a:noFill/>
          </a:ln>
          <a:effectLst>
            <a:outerShdw blurRad="1270000" dist="50800" dir="5400000" algn="ctr" rotWithShape="0">
              <a:srgbClr val="000000">
                <a:alpha val="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A0C1D19A-DDE5-65FB-3D3B-BD0E56383709}"/>
              </a:ext>
            </a:extLst>
          </p:cNvPr>
          <p:cNvSpPr>
            <a:spLocks noGrp="1"/>
          </p:cNvSpPr>
          <p:nvPr>
            <p:ph type="sldNum" sz="quarter" idx="12"/>
          </p:nvPr>
        </p:nvSpPr>
        <p:spPr>
          <a:xfrm>
            <a:off x="9405255" y="6567061"/>
            <a:ext cx="2743200" cy="365125"/>
          </a:xfrm>
        </p:spPr>
        <p:txBody>
          <a:bodyPr/>
          <a:lstStyle/>
          <a:p>
            <a:fld id="{81A835E2-40D7-45A2-9147-8DCED05EC221}" type="slidenum">
              <a:rPr lang="en-IN" sz="20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a:t>
            </a:fld>
            <a:endParaRPr lang="en-IN" sz="20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4" name="Rectangle 13">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 </a:t>
            </a:r>
          </a:p>
        </p:txBody>
      </p:sp>
    </p:spTree>
    <p:extLst>
      <p:ext uri="{BB962C8B-B14F-4D97-AF65-F5344CB8AC3E}">
        <p14:creationId xmlns:p14="http://schemas.microsoft.com/office/powerpoint/2010/main" val="2880847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48416-0A38-CA65-A2E3-A42F75B21A6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F21127-795F-9BF2-A50B-93BD5E9E2558}"/>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03580AC0-7723-D82B-BE59-695FE4D4B92B}"/>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OUTLINE</a:t>
            </a:r>
          </a:p>
        </p:txBody>
      </p:sp>
      <p:sp>
        <p:nvSpPr>
          <p:cNvPr id="7" name="Rectangle 6">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pic>
        <p:nvPicPr>
          <p:cNvPr id="1027" name="Picture 2" descr="A logo for a company&#10;&#10;AI-generated content may be incorrect.">
            <a:extLst>
              <a:ext uri="{FF2B5EF4-FFF2-40B4-BE49-F238E27FC236}">
                <a16:creationId xmlns:a16="http://schemas.microsoft.com/office/drawing/2014/main" id="{F5DB4B3B-6352-9FAB-BB3A-ADE43FA38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51F18F90-D3E0-31B1-A2BE-E2EF261C761D}"/>
              </a:ext>
            </a:extLst>
          </p:cNvPr>
          <p:cNvGraphicFramePr>
            <a:graphicFrameLocks noGrp="1"/>
          </p:cNvGraphicFramePr>
          <p:nvPr>
            <p:extLst>
              <p:ext uri="{D42A27DB-BD31-4B8C-83A1-F6EECF244321}">
                <p14:modId xmlns:p14="http://schemas.microsoft.com/office/powerpoint/2010/main" val="702548019"/>
              </p:ext>
            </p:extLst>
          </p:nvPr>
        </p:nvGraphicFramePr>
        <p:xfrm>
          <a:off x="266204" y="989241"/>
          <a:ext cx="9875321" cy="5189886"/>
        </p:xfrm>
        <a:graphic>
          <a:graphicData uri="http://schemas.openxmlformats.org/drawingml/2006/table">
            <a:tbl>
              <a:tblPr firstRow="1" firstCol="1" bandRow="1">
                <a:tableStyleId>{5C22544A-7EE6-4342-B048-85BDC9FD1C3A}</a:tableStyleId>
              </a:tblPr>
              <a:tblGrid>
                <a:gridCol w="9875321">
                  <a:extLst>
                    <a:ext uri="{9D8B030D-6E8A-4147-A177-3AD203B41FA5}">
                      <a16:colId xmlns:a16="http://schemas.microsoft.com/office/drawing/2014/main" val="1495461617"/>
                    </a:ext>
                  </a:extLst>
                </a:gridCol>
              </a:tblGrid>
              <a:tr h="5189886">
                <a:tc>
                  <a:txBody>
                    <a:bodyPr/>
                    <a:lstStyle/>
                    <a:p>
                      <a:pPr marL="0" indent="0" algn="l">
                        <a:lnSpc>
                          <a:spcPct val="150000"/>
                        </a:lnSpc>
                        <a:spcAft>
                          <a:spcPts val="0"/>
                        </a:spcAft>
                        <a:buFont typeface="Wingdings" panose="05000000000000000000" pitchFamily="2" charset="2"/>
                        <a:buNone/>
                      </a:pPr>
                      <a:endParaRPr lang="en-IN" sz="2000" b="1" kern="0" dirty="0">
                        <a:solidFill>
                          <a:schemeClr val="accent4">
                            <a:lumMod val="50000"/>
                          </a:schemeClr>
                        </a:solidFill>
                        <a:effectLst/>
                        <a:latin typeface="Agency FB" panose="020B0503020202020204" pitchFamily="34" charset="0"/>
                        <a:sym typeface="Wingdings" panose="05000000000000000000" pitchFamily="2" charset="2"/>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3" name="Picture 4" descr="Sai Vidya Institute of Technology - Wikipedia">
            <a:extLst>
              <a:ext uri="{FF2B5EF4-FFF2-40B4-BE49-F238E27FC236}">
                <a16:creationId xmlns:a16="http://schemas.microsoft.com/office/drawing/2014/main" id="{62DF0E57-853D-C692-A085-085C8C8863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66204" y="983344"/>
            <a:ext cx="11357760" cy="5170646"/>
          </a:xfrm>
          <a:prstGeom prst="rect">
            <a:avLst/>
          </a:prstGeom>
        </p:spPr>
        <p:txBody>
          <a:bodyPr wrap="square">
            <a:spAutoFit/>
          </a:bodyPr>
          <a:lstStyle/>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Introduction</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Literature Survey</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Research Gap</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Problem Statement</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Objectives</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Proposed Methodology</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System Design</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Outcomes</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Paper/Patent Details</a:t>
            </a:r>
          </a:p>
          <a:p>
            <a:pPr marL="342900" indent="-342900">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References</a:t>
            </a:r>
            <a:endParaRPr lang="en-IN" sz="2000" b="1" kern="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CF6087D-6294-5C8E-22B8-936DEFB0E901}"/>
              </a:ext>
            </a:extLst>
          </p:cNvPr>
          <p:cNvSpPr txBox="1"/>
          <p:nvPr/>
        </p:nvSpPr>
        <p:spPr>
          <a:xfrm>
            <a:off x="10441858" y="6578146"/>
            <a:ext cx="1750142" cy="369332"/>
          </a:xfrm>
          <a:prstGeom prst="rect">
            <a:avLst/>
          </a:prstGeom>
          <a:noFill/>
        </p:spPr>
        <p:txBody>
          <a:bodyPr wrap="square" rtlCol="0">
            <a:spAutoFit/>
          </a:bodyPr>
          <a:lstStyle/>
          <a:p>
            <a:r>
              <a:rPr lang="en-US" dirty="0"/>
              <a:t>                               2</a:t>
            </a:r>
            <a:endParaRPr lang="en-IN" dirty="0"/>
          </a:p>
        </p:txBody>
      </p:sp>
      <p:sp>
        <p:nvSpPr>
          <p:cNvPr id="9" name="Slide Number Placeholder 8">
            <a:extLst>
              <a:ext uri="{FF2B5EF4-FFF2-40B4-BE49-F238E27FC236}">
                <a16:creationId xmlns:a16="http://schemas.microsoft.com/office/drawing/2014/main" id="{A74548CD-63A9-DC04-057C-E988F6CFC419}"/>
              </a:ext>
            </a:extLst>
          </p:cNvPr>
          <p:cNvSpPr>
            <a:spLocks noGrp="1"/>
          </p:cNvSpPr>
          <p:nvPr>
            <p:ph type="sldNum" sz="quarter" idx="12"/>
          </p:nvPr>
        </p:nvSpPr>
        <p:spPr/>
        <p:txBody>
          <a:bodyPr/>
          <a:lstStyle/>
          <a:p>
            <a:fld id="{81A835E2-40D7-45A2-9147-8DCED05EC221}" type="slidenum">
              <a:rPr lang="en-IN" smtClean="0"/>
              <a:t>2</a:t>
            </a:fld>
            <a:endParaRPr lang="en-IN"/>
          </a:p>
        </p:txBody>
      </p:sp>
    </p:spTree>
    <p:extLst>
      <p:ext uri="{BB962C8B-B14F-4D97-AF65-F5344CB8AC3E}">
        <p14:creationId xmlns:p14="http://schemas.microsoft.com/office/powerpoint/2010/main" val="14262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C3DA-4098-AB4B-B0D4-584838580D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69E825-90AF-BF95-D1BB-644029C50187}"/>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041AD2CD-8E98-CBA4-D172-5CD65AE088F3}"/>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INTRODUCTION</a:t>
            </a:r>
          </a:p>
        </p:txBody>
      </p:sp>
      <p:pic>
        <p:nvPicPr>
          <p:cNvPr id="1027" name="Picture 2" descr="A logo for a company&#10;&#10;AI-generated content may be incorrect.">
            <a:extLst>
              <a:ext uri="{FF2B5EF4-FFF2-40B4-BE49-F238E27FC236}">
                <a16:creationId xmlns:a16="http://schemas.microsoft.com/office/drawing/2014/main" id="{51DD1674-F380-896F-6F1E-10F3C29B23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FB11EE45-309D-8F84-D760-FCBB89295B41}"/>
              </a:ext>
            </a:extLst>
          </p:cNvPr>
          <p:cNvGraphicFramePr>
            <a:graphicFrameLocks noGrp="1"/>
          </p:cNvGraphicFramePr>
          <p:nvPr>
            <p:extLst>
              <p:ext uri="{D42A27DB-BD31-4B8C-83A1-F6EECF244321}">
                <p14:modId xmlns:p14="http://schemas.microsoft.com/office/powerpoint/2010/main" val="764683883"/>
              </p:ext>
            </p:extLst>
          </p:nvPr>
        </p:nvGraphicFramePr>
        <p:xfrm>
          <a:off x="446314" y="1021902"/>
          <a:ext cx="11266715" cy="5313584"/>
        </p:xfrm>
        <a:graphic>
          <a:graphicData uri="http://schemas.openxmlformats.org/drawingml/2006/table">
            <a:tbl>
              <a:tblPr firstRow="1" firstCol="1" bandRow="1">
                <a:tableStyleId>{5C22544A-7EE6-4342-B048-85BDC9FD1C3A}</a:tableStyleId>
              </a:tblPr>
              <a:tblGrid>
                <a:gridCol w="11266715">
                  <a:extLst>
                    <a:ext uri="{9D8B030D-6E8A-4147-A177-3AD203B41FA5}">
                      <a16:colId xmlns:a16="http://schemas.microsoft.com/office/drawing/2014/main" val="1495461617"/>
                    </a:ext>
                  </a:extLst>
                </a:gridCol>
              </a:tblGrid>
              <a:tr h="5313584">
                <a:tc>
                  <a:txBody>
                    <a:bodyPr/>
                    <a:lstStyle/>
                    <a:p>
                      <a:pPr algn="just"/>
                      <a:endParaRPr lang="en-US" sz="1200" dirty="0">
                        <a:solidFill>
                          <a:schemeClr val="tx1"/>
                        </a:solidFill>
                      </a:endParaRPr>
                    </a:p>
                    <a:p>
                      <a:pPr algn="just"/>
                      <a:r>
                        <a:rPr lang="en-US" sz="3200" b="1" kern="0" dirty="0">
                          <a:solidFill>
                            <a:schemeClr val="tx1"/>
                          </a:solidFill>
                          <a:effectLst/>
                          <a:latin typeface="Times New Roman" panose="02020603050405020304" pitchFamily="18" charset="0"/>
                          <a:ea typeface="+mn-ea"/>
                          <a:cs typeface="Times New Roman" panose="02020603050405020304" pitchFamily="18" charset="0"/>
                        </a:rPr>
                        <a:t>Introduction</a:t>
                      </a:r>
                      <a:r>
                        <a:rPr lang="en-US" sz="3200" b="1" dirty="0">
                          <a:solidFill>
                            <a:schemeClr val="tx1"/>
                          </a:solidFill>
                          <a:latin typeface="Times New Roman" panose="02020603050405020304" pitchFamily="18" charset="0"/>
                          <a:cs typeface="Times New Roman" panose="02020603050405020304" pitchFamily="18" charset="0"/>
                        </a:rPr>
                        <a:t> – </a:t>
                      </a:r>
                      <a:r>
                        <a:rPr lang="en-US" sz="3200" b="1" kern="0" dirty="0">
                          <a:solidFill>
                            <a:schemeClr val="tx1"/>
                          </a:solidFill>
                          <a:effectLst/>
                          <a:latin typeface="Times New Roman" panose="02020603050405020304" pitchFamily="18" charset="0"/>
                          <a:ea typeface="+mn-ea"/>
                          <a:cs typeface="Times New Roman" panose="02020603050405020304" pitchFamily="18" charset="0"/>
                        </a:rPr>
                        <a:t>AI-Driven</a:t>
                      </a:r>
                      <a:r>
                        <a:rPr lang="en-US" sz="3200" b="1" dirty="0">
                          <a:solidFill>
                            <a:schemeClr val="tx1"/>
                          </a:solidFill>
                          <a:latin typeface="Times New Roman" panose="02020603050405020304" pitchFamily="18" charset="0"/>
                          <a:cs typeface="Times New Roman" panose="02020603050405020304" pitchFamily="18" charset="0"/>
                        </a:rPr>
                        <a:t> </a:t>
                      </a:r>
                      <a:r>
                        <a:rPr lang="en-US" sz="3200" b="1" kern="0" dirty="0">
                          <a:solidFill>
                            <a:schemeClr val="tx1"/>
                          </a:solidFill>
                          <a:effectLst/>
                          <a:latin typeface="Times New Roman" panose="02020603050405020304" pitchFamily="18" charset="0"/>
                          <a:ea typeface="+mn-ea"/>
                          <a:cs typeface="Times New Roman" panose="02020603050405020304" pitchFamily="18" charset="0"/>
                        </a:rPr>
                        <a:t>Veterinary Management System</a:t>
                      </a:r>
                      <a:endParaRPr lang="en-US" sz="3200" b="1" dirty="0">
                        <a:solidFill>
                          <a:schemeClr val="tx1"/>
                        </a:solidFill>
                        <a:latin typeface="Times New Roman" panose="02020603050405020304" pitchFamily="18" charset="0"/>
                        <a:cs typeface="Times New Roman" panose="02020603050405020304" pitchFamily="18" charset="0"/>
                      </a:endParaRPr>
                    </a:p>
                    <a:p>
                      <a:pPr algn="just"/>
                      <a:endParaRPr lang="en-US" sz="1200" b="1" dirty="0">
                        <a:solidFill>
                          <a:schemeClr val="tx1"/>
                        </a:solidFill>
                      </a:endParaRPr>
                    </a:p>
                    <a:p>
                      <a:pPr marL="285750" indent="-285750" algn="just">
                        <a:lnSpc>
                          <a:spcPct val="150000"/>
                        </a:lnSpc>
                        <a:buFont typeface="Wingdings" panose="05000000000000000000" pitchFamily="2" charset="2"/>
                        <a:buChar char="Ø"/>
                      </a:pPr>
                      <a:r>
                        <a:rPr lang="en-US" sz="2000" b="0" dirty="0">
                          <a:solidFill>
                            <a:schemeClr val="tx1"/>
                          </a:solidFill>
                          <a:latin typeface="Times New Roman" panose="02020603050405020304" pitchFamily="18" charset="0"/>
                          <a:cs typeface="Times New Roman" panose="02020603050405020304" pitchFamily="18" charset="0"/>
                        </a:rPr>
                        <a:t>Rapid advancements in AI are transforming veterinary medicine, improving animal healthcare through smarter decision-making.</a:t>
                      </a:r>
                    </a:p>
                    <a:p>
                      <a:pPr marL="285750" indent="-285750" algn="just">
                        <a:lnSpc>
                          <a:spcPct val="150000"/>
                        </a:lnSpc>
                        <a:buFont typeface="Wingdings" panose="05000000000000000000" pitchFamily="2" charset="2"/>
                        <a:buChar char="Ø"/>
                      </a:pPr>
                      <a:r>
                        <a:rPr lang="en-US" sz="2000" b="0" dirty="0">
                          <a:solidFill>
                            <a:schemeClr val="tx1"/>
                          </a:solidFill>
                          <a:latin typeface="Times New Roman" panose="02020603050405020304" pitchFamily="18" charset="0"/>
                          <a:cs typeface="Times New Roman" panose="02020603050405020304" pitchFamily="18" charset="0"/>
                        </a:rPr>
                        <a:t>Traditional veterinary management faces challenges in real-time data handling, animal monitoring, and personalized interventions.</a:t>
                      </a:r>
                    </a:p>
                    <a:p>
                      <a:pPr marL="285750" marR="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000" b="0" dirty="0">
                          <a:solidFill>
                            <a:schemeClr val="tx1"/>
                          </a:solidFill>
                          <a:latin typeface="Times New Roman" panose="02020603050405020304" pitchFamily="18" charset="0"/>
                          <a:cs typeface="Times New Roman" panose="02020603050405020304" pitchFamily="18" charset="0"/>
                        </a:rPr>
                        <a:t>An AI-powered veterinary management system integrates AI/ML for predictive analysis and a chatbot assistant to ensure efficient</a:t>
                      </a:r>
                      <a:r>
                        <a:rPr lang="en-US" sz="2000" b="0" baseline="0" dirty="0">
                          <a:solidFill>
                            <a:schemeClr val="tx1"/>
                          </a:solidFill>
                          <a:latin typeface="Times New Roman" panose="02020603050405020304" pitchFamily="18" charset="0"/>
                          <a:cs typeface="Times New Roman" panose="02020603050405020304" pitchFamily="18" charset="0"/>
                        </a:rPr>
                        <a:t> and</a:t>
                      </a:r>
                      <a:r>
                        <a:rPr lang="en-US" sz="2000" b="0" dirty="0">
                          <a:solidFill>
                            <a:schemeClr val="tx1"/>
                          </a:solidFill>
                          <a:latin typeface="Times New Roman" panose="02020603050405020304" pitchFamily="18" charset="0"/>
                          <a:cs typeface="Times New Roman" panose="02020603050405020304" pitchFamily="18" charset="0"/>
                        </a:rPr>
                        <a:t> accurate.</a:t>
                      </a:r>
                    </a:p>
                    <a:p>
                      <a:pPr marL="285750" marR="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000" b="0" dirty="0">
                          <a:solidFill>
                            <a:schemeClr val="tx1"/>
                          </a:solidFill>
                          <a:latin typeface="Times New Roman" panose="02020603050405020304" pitchFamily="18" charset="0"/>
                          <a:cs typeface="Times New Roman" panose="02020603050405020304" pitchFamily="18" charset="0"/>
                        </a:rPr>
                        <a:t>The project leverages AI to support clinical decisions, manage health records, and provide proactive care for livestock and pets.</a:t>
                      </a:r>
                    </a:p>
                    <a:p>
                      <a:pPr marL="0" indent="0" algn="l">
                        <a:lnSpc>
                          <a:spcPct val="115000"/>
                        </a:lnSpc>
                        <a:spcAft>
                          <a:spcPts val="0"/>
                        </a:spcAft>
                        <a:buFont typeface="Wingdings" panose="05000000000000000000" pitchFamily="2" charset="2"/>
                        <a:buNone/>
                      </a:pPr>
                      <a:endParaRPr lang="en-IN" sz="2000" b="1" kern="0" dirty="0">
                        <a:solidFill>
                          <a:schemeClr val="accent4">
                            <a:lumMod val="50000"/>
                          </a:schemeClr>
                        </a:solidFill>
                        <a:effectLst/>
                        <a:latin typeface="Agency FB" panose="020B0503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3" name="Picture 4" descr="Sai Vidya Institute of Technology - Wikipedia">
            <a:extLst>
              <a:ext uri="{FF2B5EF4-FFF2-40B4-BE49-F238E27FC236}">
                <a16:creationId xmlns:a16="http://schemas.microsoft.com/office/drawing/2014/main" id="{18B6B73F-70F8-577B-812E-17FE8008FD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79903E62-C2B3-09AD-FE1A-409F10A04EBF}"/>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3</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8" name="TextBox 7">
            <a:extLst>
              <a:ext uri="{FF2B5EF4-FFF2-40B4-BE49-F238E27FC236}">
                <a16:creationId xmlns:a16="http://schemas.microsoft.com/office/drawing/2014/main" id="{1E382697-1842-A84C-13B7-EA8848306B87}"/>
              </a:ext>
            </a:extLst>
          </p:cNvPr>
          <p:cNvSpPr txBox="1"/>
          <p:nvPr/>
        </p:nvSpPr>
        <p:spPr>
          <a:xfrm>
            <a:off x="10445675" y="6578146"/>
            <a:ext cx="1871831" cy="369332"/>
          </a:xfrm>
          <a:prstGeom prst="rect">
            <a:avLst/>
          </a:prstGeom>
          <a:noFill/>
        </p:spPr>
        <p:txBody>
          <a:bodyPr wrap="square" rtlCol="0">
            <a:spAutoFit/>
          </a:bodyPr>
          <a:lstStyle/>
          <a:p>
            <a:r>
              <a:rPr lang="en-US" dirty="0"/>
              <a:t>                               3</a:t>
            </a:r>
            <a:endParaRPr lang="en-IN" dirty="0"/>
          </a:p>
        </p:txBody>
      </p:sp>
    </p:spTree>
    <p:extLst>
      <p:ext uri="{BB962C8B-B14F-4D97-AF65-F5344CB8AC3E}">
        <p14:creationId xmlns:p14="http://schemas.microsoft.com/office/powerpoint/2010/main" val="426430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1532-DECA-7A7B-FD2D-7EB1FCBEF2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2F8A2B1-8814-7D72-C376-F3C327D6196C}"/>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21F33845-FF1B-AE41-51EF-4AB7EC3DBBAF}"/>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LITERATURE SURVEY</a:t>
            </a:r>
          </a:p>
        </p:txBody>
      </p:sp>
      <p:pic>
        <p:nvPicPr>
          <p:cNvPr id="1027" name="Picture 2" descr="A logo for a company&#10;&#10;AI-generated content may be incorrect.">
            <a:extLst>
              <a:ext uri="{FF2B5EF4-FFF2-40B4-BE49-F238E27FC236}">
                <a16:creationId xmlns:a16="http://schemas.microsoft.com/office/drawing/2014/main" id="{B77E9652-E1DB-98EF-40F6-54BC8AB109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51E59FF7-BB7A-AD96-F2EC-56698AB661BA}"/>
              </a:ext>
            </a:extLst>
          </p:cNvPr>
          <p:cNvGraphicFramePr>
            <a:graphicFrameLocks noGrp="1"/>
          </p:cNvGraphicFramePr>
          <p:nvPr>
            <p:extLst>
              <p:ext uri="{D42A27DB-BD31-4B8C-83A1-F6EECF244321}">
                <p14:modId xmlns:p14="http://schemas.microsoft.com/office/powerpoint/2010/main" val="4246895966"/>
              </p:ext>
            </p:extLst>
          </p:nvPr>
        </p:nvGraphicFramePr>
        <p:xfrm>
          <a:off x="446314" y="1021902"/>
          <a:ext cx="11266716" cy="5313584"/>
        </p:xfrm>
        <a:graphic>
          <a:graphicData uri="http://schemas.openxmlformats.org/drawingml/2006/table">
            <a:tbl>
              <a:tblPr firstRow="1" firstCol="1" bandRow="1">
                <a:tableStyleId>{5C22544A-7EE6-4342-B048-85BDC9FD1C3A}</a:tableStyleId>
              </a:tblPr>
              <a:tblGrid>
                <a:gridCol w="5633358">
                  <a:extLst>
                    <a:ext uri="{9D8B030D-6E8A-4147-A177-3AD203B41FA5}">
                      <a16:colId xmlns:a16="http://schemas.microsoft.com/office/drawing/2014/main" val="2482285992"/>
                    </a:ext>
                  </a:extLst>
                </a:gridCol>
                <a:gridCol w="5633358">
                  <a:extLst>
                    <a:ext uri="{9D8B030D-6E8A-4147-A177-3AD203B41FA5}">
                      <a16:colId xmlns:a16="http://schemas.microsoft.com/office/drawing/2014/main" val="1495461617"/>
                    </a:ext>
                  </a:extLst>
                </a:gridCol>
              </a:tblGrid>
              <a:tr h="5313584">
                <a:tc>
                  <a:txBody>
                    <a:bodyPr/>
                    <a:lstStyle/>
                    <a:p>
                      <a:pPr marL="0" marR="0" lvl="0" indent="0" algn="l"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r>
                        <a:rPr lang="en-IN" sz="3200" dirty="0">
                          <a:latin typeface="Times New Roman" panose="02020603050405020304" pitchFamily="18" charset="0"/>
                          <a:cs typeface="Times New Roman" panose="02020603050405020304" pitchFamily="18" charset="0"/>
                        </a:rPr>
                        <a:t> </a:t>
                      </a:r>
                      <a:endParaRPr lang="en-IN" sz="3200" dirty="0">
                        <a:solidFill>
                          <a:schemeClr val="tx1"/>
                        </a:solidFill>
                        <a:latin typeface="Times New Roman" panose="02020603050405020304" pitchFamily="18"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tc>
                  <a:txBody>
                    <a:bodyPr/>
                    <a:lstStyle/>
                    <a:p>
                      <a:pPr marL="0" marR="0" lvl="0" indent="0" algn="l"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endParaRPr lang="en-IN" sz="2000" dirty="0">
                        <a:latin typeface="Times New Roman" panose="02020603050405020304" pitchFamily="18"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3" name="Picture 4" descr="Sai Vidya Institute of Technology - Wikipedia">
            <a:extLst>
              <a:ext uri="{FF2B5EF4-FFF2-40B4-BE49-F238E27FC236}">
                <a16:creationId xmlns:a16="http://schemas.microsoft.com/office/drawing/2014/main" id="{F50EB244-B90C-6B27-27F1-6E98BBC12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5241AEE-6810-60B2-F942-BB55638DCF2C}"/>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4</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graphicFrame>
        <p:nvGraphicFramePr>
          <p:cNvPr id="5" name="Table 4">
            <a:extLst>
              <a:ext uri="{FF2B5EF4-FFF2-40B4-BE49-F238E27FC236}">
                <a16:creationId xmlns:a16="http://schemas.microsoft.com/office/drawing/2014/main" id="{65FF135D-A5BC-125B-CE59-37DF755766B6}"/>
              </a:ext>
            </a:extLst>
          </p:cNvPr>
          <p:cNvGraphicFramePr>
            <a:graphicFrameLocks noGrp="1"/>
          </p:cNvGraphicFramePr>
          <p:nvPr>
            <p:extLst>
              <p:ext uri="{D42A27DB-BD31-4B8C-83A1-F6EECF244321}">
                <p14:modId xmlns:p14="http://schemas.microsoft.com/office/powerpoint/2010/main" val="3434524499"/>
              </p:ext>
            </p:extLst>
          </p:nvPr>
        </p:nvGraphicFramePr>
        <p:xfrm>
          <a:off x="98419" y="1021902"/>
          <a:ext cx="11995161" cy="5313584"/>
        </p:xfrm>
        <a:graphic>
          <a:graphicData uri="http://schemas.openxmlformats.org/drawingml/2006/table">
            <a:tbl>
              <a:tblPr firstRow="1" firstCol="1" bandRow="1">
                <a:tableStyleId>{5C22544A-7EE6-4342-B048-85BDC9FD1C3A}</a:tableStyleId>
              </a:tblPr>
              <a:tblGrid>
                <a:gridCol w="11995161">
                  <a:extLst>
                    <a:ext uri="{9D8B030D-6E8A-4147-A177-3AD203B41FA5}">
                      <a16:colId xmlns:a16="http://schemas.microsoft.com/office/drawing/2014/main" val="1495461617"/>
                    </a:ext>
                  </a:extLst>
                </a:gridCol>
              </a:tblGrid>
              <a:tr h="5313584">
                <a:tc>
                  <a:txBody>
                    <a:bodyPr/>
                    <a:lstStyle/>
                    <a:p>
                      <a:pPr marL="0" indent="0" algn="l">
                        <a:lnSpc>
                          <a:spcPct val="115000"/>
                        </a:lnSpc>
                        <a:spcAft>
                          <a:spcPts val="0"/>
                        </a:spcAft>
                        <a:buFont typeface="Wingdings" panose="05000000000000000000" pitchFamily="2" charset="2"/>
                        <a:buNone/>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graphicFrame>
        <p:nvGraphicFramePr>
          <p:cNvPr id="7" name="Table 6">
            <a:extLst>
              <a:ext uri="{FF2B5EF4-FFF2-40B4-BE49-F238E27FC236}">
                <a16:creationId xmlns:a16="http://schemas.microsoft.com/office/drawing/2014/main" id="{6AA4E51B-B254-A8AB-74EE-25F28F47A67E}"/>
              </a:ext>
            </a:extLst>
          </p:cNvPr>
          <p:cNvGraphicFramePr>
            <a:graphicFrameLocks noGrp="1"/>
          </p:cNvGraphicFramePr>
          <p:nvPr>
            <p:extLst>
              <p:ext uri="{D42A27DB-BD31-4B8C-83A1-F6EECF244321}">
                <p14:modId xmlns:p14="http://schemas.microsoft.com/office/powerpoint/2010/main" val="65813449"/>
              </p:ext>
            </p:extLst>
          </p:nvPr>
        </p:nvGraphicFramePr>
        <p:xfrm>
          <a:off x="189721" y="1005120"/>
          <a:ext cx="11812555" cy="5313587"/>
        </p:xfrm>
        <a:graphic>
          <a:graphicData uri="http://schemas.openxmlformats.org/drawingml/2006/table">
            <a:tbl>
              <a:tblPr firstRow="1" bandRow="1">
                <a:tableStyleId>{21E4AEA4-8DFA-4A89-87EB-49C32662AFE0}</a:tableStyleId>
              </a:tblPr>
              <a:tblGrid>
                <a:gridCol w="442325">
                  <a:extLst>
                    <a:ext uri="{9D8B030D-6E8A-4147-A177-3AD203B41FA5}">
                      <a16:colId xmlns:a16="http://schemas.microsoft.com/office/drawing/2014/main" val="2112659579"/>
                    </a:ext>
                  </a:extLst>
                </a:gridCol>
                <a:gridCol w="3687320">
                  <a:extLst>
                    <a:ext uri="{9D8B030D-6E8A-4147-A177-3AD203B41FA5}">
                      <a16:colId xmlns:a16="http://schemas.microsoft.com/office/drawing/2014/main" val="991465705"/>
                    </a:ext>
                  </a:extLst>
                </a:gridCol>
                <a:gridCol w="4376218">
                  <a:extLst>
                    <a:ext uri="{9D8B030D-6E8A-4147-A177-3AD203B41FA5}">
                      <a16:colId xmlns:a16="http://schemas.microsoft.com/office/drawing/2014/main" val="6135278"/>
                    </a:ext>
                  </a:extLst>
                </a:gridCol>
                <a:gridCol w="3306692">
                  <a:extLst>
                    <a:ext uri="{9D8B030D-6E8A-4147-A177-3AD203B41FA5}">
                      <a16:colId xmlns:a16="http://schemas.microsoft.com/office/drawing/2014/main" val="686434201"/>
                    </a:ext>
                  </a:extLst>
                </a:gridCol>
              </a:tblGrid>
              <a:tr h="973762">
                <a:tc>
                  <a:txBody>
                    <a:bodyPr/>
                    <a:lstStyle/>
                    <a:p>
                      <a:r>
                        <a:rPr lang="en-IN" baseline="0"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Title</a:t>
                      </a:r>
                      <a:r>
                        <a:rPr lang="en-IN" baseline="0" dirty="0">
                          <a:latin typeface="Times New Roman" panose="02020603050405020304" pitchFamily="18" charset="0"/>
                          <a:cs typeface="Times New Roman" panose="02020603050405020304" pitchFamily="18" charset="0"/>
                        </a:rPr>
                        <a:t> with Authors Name, Paper Journal name and 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a:t>
                      </a:r>
                      <a:r>
                        <a:rPr lang="en-IN" baseline="0" dirty="0">
                          <a:latin typeface="Times New Roman" panose="02020603050405020304" pitchFamily="18" charset="0"/>
                          <a:cs typeface="Times New Roman" panose="02020603050405020304" pitchFamily="18" charset="0"/>
                        </a:rPr>
                        <a:t>/Algorithm/Technology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Future Work</a:t>
                      </a:r>
                    </a:p>
                  </a:txBody>
                  <a:tcPr/>
                </a:tc>
                <a:extLst>
                  <a:ext uri="{0D108BD9-81ED-4DB2-BD59-A6C34878D82A}">
                    <a16:rowId xmlns:a16="http://schemas.microsoft.com/office/drawing/2014/main" val="779578973"/>
                  </a:ext>
                </a:extLst>
              </a:tr>
              <a:tr h="1511413">
                <a:tc>
                  <a:txBody>
                    <a:bodyPr/>
                    <a:lstStyle/>
                    <a:p>
                      <a:pPr algn="just">
                        <a:lnSpc>
                          <a:spcPct val="150000"/>
                        </a:lnSpc>
                      </a:pPr>
                      <a:r>
                        <a:rPr lang="en-IN" sz="1600" dirty="0">
                          <a:latin typeface="Times New Roman" panose="02020603050405020304" pitchFamily="18" charset="0"/>
                          <a:cs typeface="Times New Roman" panose="02020603050405020304" pitchFamily="18" charset="0"/>
                        </a:rPr>
                        <a:t>1.</a:t>
                      </a:r>
                    </a:p>
                  </a:txBody>
                  <a:tcPr/>
                </a:tc>
                <a:tc>
                  <a:txBody>
                    <a:bodyPr/>
                    <a:lstStyle/>
                    <a:p>
                      <a:pPr algn="just">
                        <a:lnSpc>
                          <a:spcPct val="107000"/>
                        </a:lnSpc>
                        <a:spcAft>
                          <a:spcPts val="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AI-Powered Veterinary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Chatbot</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 for Automated Diagnosis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Prashanna</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J,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Dr.</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Vanita</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Jaitly</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ICICT 2025, IEEE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ML (SVM, Decision Tree) for disease detection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NLP + Google API (TTS) for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chatbot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Data mining for learning &amp; insights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Expand dataset for better accuracy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Add multilingual support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Integrate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IoT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pet health tracking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553243704"/>
                  </a:ext>
                </a:extLst>
              </a:tr>
              <a:tr h="1414206">
                <a:tc>
                  <a:txBody>
                    <a:bodyPr/>
                    <a:lstStyle/>
                    <a:p>
                      <a:pPr algn="just">
                        <a:lnSpc>
                          <a:spcPct val="150000"/>
                        </a:lnSpc>
                      </a:pPr>
                      <a:r>
                        <a:rPr lang="en-IN" sz="1600" dirty="0">
                          <a:latin typeface="Times New Roman" panose="02020603050405020304" pitchFamily="18" charset="0"/>
                          <a:cs typeface="Times New Roman" panose="02020603050405020304" pitchFamily="18" charset="0"/>
                        </a:rPr>
                        <a:t>2.</a:t>
                      </a:r>
                    </a:p>
                  </a:txBody>
                  <a:tcPr/>
                </a:tc>
                <a:tc>
                  <a:txBody>
                    <a:bodyPr/>
                    <a:lstStyle/>
                    <a:p>
                      <a:pPr algn="just">
                        <a:lnSpc>
                          <a:spcPct val="107000"/>
                        </a:lnSpc>
                        <a:spcAft>
                          <a:spcPts val="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“AI Veterinary Assistance: Enhancing Clinical Decision-Making in Animal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Healthcare”</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Youn-Gyu</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Jin</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et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al.</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IEEE</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Access, 2025</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lvl="0" indent="-285750" algn="just">
                        <a:lnSpc>
                          <a:spcPct val="107000"/>
                        </a:lnSpc>
                        <a:spcAft>
                          <a:spcPts val="0"/>
                        </a:spcAft>
                        <a:buFont typeface="Arial" panose="020B0604020202020204" pitchFamily="34" charset="0"/>
                        <a:buChar cha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AI Veterinary Assistance (AVA) using GPT-4o LLM.</a:t>
                      </a:r>
                    </a:p>
                    <a:p>
                      <a:pPr marL="285750" lvl="0" indent="-285750" algn="just">
                        <a:lnSpc>
                          <a:spcPct val="107000"/>
                        </a:lnSpc>
                        <a:spcAft>
                          <a:spcPts val="0"/>
                        </a:spcAft>
                        <a:buFont typeface="Arial" panose="020B0604020202020204" pitchFamily="34" charset="0"/>
                        <a:buChar cha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Symptom extraction via in-context learning.</a:t>
                      </a:r>
                    </a:p>
                    <a:p>
                      <a:pPr marL="285750" lvl="0" indent="-285750" algn="just">
                        <a:lnSpc>
                          <a:spcPct val="107000"/>
                        </a:lnSpc>
                        <a:spcAft>
                          <a:spcPts val="0"/>
                        </a:spcAft>
                        <a:buFont typeface="Arial" panose="020B0604020202020204" pitchFamily="34" charset="0"/>
                        <a:buChar cha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Disease prediction using symptom database.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Improve accuracy for varied language input.</a:t>
                      </a:r>
                    </a:p>
                    <a:p>
                      <a:pPr marL="285750" indent="-285750">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Develop specialized veterinary LLMs.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048499091"/>
                  </a:ext>
                </a:extLst>
              </a:tr>
              <a:tr h="1414206">
                <a:tc>
                  <a:txBody>
                    <a:bodyPr/>
                    <a:lstStyle/>
                    <a:p>
                      <a:pPr algn="just"/>
                      <a:r>
                        <a:rPr lang="en-IN" dirty="0">
                          <a:latin typeface="Times New Roman" panose="02020603050405020304" pitchFamily="18" charset="0"/>
                          <a:cs typeface="Times New Roman" panose="02020603050405020304" pitchFamily="18" charset="0"/>
                        </a:rPr>
                        <a:t>3.</a:t>
                      </a:r>
                    </a:p>
                  </a:txBody>
                  <a:tcPr/>
                </a:tc>
                <a:tc>
                  <a:txBody>
                    <a:bodyPr/>
                    <a:lstStyle/>
                    <a:p>
                      <a:pPr algn="just">
                        <a:lnSpc>
                          <a:spcPct val="107000"/>
                        </a:lnSpc>
                        <a:spcAft>
                          <a:spcPts val="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Veterinary Medical Records Application using AWS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Dr.</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Deepika</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Soni</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et al.</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ICMCSI 2024, IEEE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AWS 3-tier web architecture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EC2, Lambda, S3, RDS,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CloudFront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285750" indent="-285750" algn="just">
                        <a:lnSpc>
                          <a:spcPct val="107000"/>
                        </a:lnSpc>
                        <a:spcAft>
                          <a:spcPts val="0"/>
                        </a:spcAft>
                        <a:buFont typeface="Arial" panose="020B0604020202020204" pitchFamily="34" charset="0"/>
                        <a:buChar char="•"/>
                      </a:pP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Serverless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backend with API Gateway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Add mobile app features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Include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IoT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/microchip data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Improve interface usability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782655398"/>
                  </a:ext>
                </a:extLst>
              </a:tr>
            </a:tbl>
          </a:graphicData>
        </a:graphic>
      </p:graphicFrame>
      <p:sp>
        <p:nvSpPr>
          <p:cNvPr id="8" name="TextBox 7">
            <a:extLst>
              <a:ext uri="{FF2B5EF4-FFF2-40B4-BE49-F238E27FC236}">
                <a16:creationId xmlns:a16="http://schemas.microsoft.com/office/drawing/2014/main" id="{B36BA9F3-957E-6F46-C1DC-8C7A95671FE1}"/>
              </a:ext>
            </a:extLst>
          </p:cNvPr>
          <p:cNvSpPr txBox="1"/>
          <p:nvPr/>
        </p:nvSpPr>
        <p:spPr>
          <a:xfrm>
            <a:off x="10599174" y="6578146"/>
            <a:ext cx="1582994" cy="369332"/>
          </a:xfrm>
          <a:prstGeom prst="rect">
            <a:avLst/>
          </a:prstGeom>
          <a:noFill/>
        </p:spPr>
        <p:txBody>
          <a:bodyPr wrap="square" rtlCol="0">
            <a:spAutoFit/>
          </a:bodyPr>
          <a:lstStyle/>
          <a:p>
            <a:r>
              <a:rPr lang="en-US" dirty="0"/>
              <a:t>                           4</a:t>
            </a:r>
            <a:endParaRPr lang="en-IN" dirty="0"/>
          </a:p>
        </p:txBody>
      </p:sp>
    </p:spTree>
    <p:extLst>
      <p:ext uri="{BB962C8B-B14F-4D97-AF65-F5344CB8AC3E}">
        <p14:creationId xmlns:p14="http://schemas.microsoft.com/office/powerpoint/2010/main" val="144849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A670D5-1828-963F-E746-CAE86CEAAFC3}"/>
              </a:ext>
            </a:extLst>
          </p:cNvPr>
          <p:cNvSpPr>
            <a:spLocks noGrp="1"/>
          </p:cNvSpPr>
          <p:nvPr>
            <p:ph type="sldNum" sz="quarter" idx="12"/>
          </p:nvPr>
        </p:nvSpPr>
        <p:spPr/>
        <p:txBody>
          <a:bodyPr/>
          <a:lstStyle/>
          <a:p>
            <a:fld id="{81A835E2-40D7-45A2-9147-8DCED05EC221}" type="slidenum">
              <a:rPr lang="en-IN" smtClean="0"/>
              <a:t>5</a:t>
            </a:fld>
            <a:endParaRPr lang="en-IN"/>
          </a:p>
        </p:txBody>
      </p:sp>
      <p:graphicFrame>
        <p:nvGraphicFramePr>
          <p:cNvPr id="6" name="Table 5">
            <a:extLst>
              <a:ext uri="{FF2B5EF4-FFF2-40B4-BE49-F238E27FC236}">
                <a16:creationId xmlns:a16="http://schemas.microsoft.com/office/drawing/2014/main" id="{2D31AE4F-466B-3B37-4F9D-1D08CF689037}"/>
              </a:ext>
            </a:extLst>
          </p:cNvPr>
          <p:cNvGraphicFramePr>
            <a:graphicFrameLocks noGrp="1"/>
          </p:cNvGraphicFramePr>
          <p:nvPr>
            <p:extLst>
              <p:ext uri="{D42A27DB-BD31-4B8C-83A1-F6EECF244321}">
                <p14:modId xmlns:p14="http://schemas.microsoft.com/office/powerpoint/2010/main" val="4240474843"/>
              </p:ext>
            </p:extLst>
          </p:nvPr>
        </p:nvGraphicFramePr>
        <p:xfrm>
          <a:off x="189722" y="1042763"/>
          <a:ext cx="11812555" cy="5313587"/>
        </p:xfrm>
        <a:graphic>
          <a:graphicData uri="http://schemas.openxmlformats.org/drawingml/2006/table">
            <a:tbl>
              <a:tblPr firstRow="1" bandRow="1">
                <a:tableStyleId>{21E4AEA4-8DFA-4A89-87EB-49C32662AFE0}</a:tableStyleId>
              </a:tblPr>
              <a:tblGrid>
                <a:gridCol w="442325">
                  <a:extLst>
                    <a:ext uri="{9D8B030D-6E8A-4147-A177-3AD203B41FA5}">
                      <a16:colId xmlns:a16="http://schemas.microsoft.com/office/drawing/2014/main" val="2112659579"/>
                    </a:ext>
                  </a:extLst>
                </a:gridCol>
                <a:gridCol w="3687320">
                  <a:extLst>
                    <a:ext uri="{9D8B030D-6E8A-4147-A177-3AD203B41FA5}">
                      <a16:colId xmlns:a16="http://schemas.microsoft.com/office/drawing/2014/main" val="991465705"/>
                    </a:ext>
                  </a:extLst>
                </a:gridCol>
                <a:gridCol w="4376218">
                  <a:extLst>
                    <a:ext uri="{9D8B030D-6E8A-4147-A177-3AD203B41FA5}">
                      <a16:colId xmlns:a16="http://schemas.microsoft.com/office/drawing/2014/main" val="6135278"/>
                    </a:ext>
                  </a:extLst>
                </a:gridCol>
                <a:gridCol w="3306692">
                  <a:extLst>
                    <a:ext uri="{9D8B030D-6E8A-4147-A177-3AD203B41FA5}">
                      <a16:colId xmlns:a16="http://schemas.microsoft.com/office/drawing/2014/main" val="686434201"/>
                    </a:ext>
                  </a:extLst>
                </a:gridCol>
              </a:tblGrid>
              <a:tr h="973762">
                <a:tc>
                  <a:txBody>
                    <a:bodyPr/>
                    <a:lstStyle/>
                    <a:p>
                      <a:r>
                        <a:rPr lang="en-IN" baseline="0"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Title</a:t>
                      </a:r>
                      <a:r>
                        <a:rPr lang="en-IN" baseline="0" dirty="0">
                          <a:latin typeface="Times New Roman" panose="02020603050405020304" pitchFamily="18" charset="0"/>
                          <a:cs typeface="Times New Roman" panose="02020603050405020304" pitchFamily="18" charset="0"/>
                        </a:rPr>
                        <a:t> with Authors Name, Paper Journal name and 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a:t>
                      </a:r>
                      <a:r>
                        <a:rPr lang="en-IN" baseline="0" dirty="0">
                          <a:latin typeface="Times New Roman" panose="02020603050405020304" pitchFamily="18" charset="0"/>
                          <a:cs typeface="Times New Roman" panose="02020603050405020304" pitchFamily="18" charset="0"/>
                        </a:rPr>
                        <a:t>/Algorithm/Technology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Future Work</a:t>
                      </a:r>
                    </a:p>
                  </a:txBody>
                  <a:tcPr/>
                </a:tc>
                <a:extLst>
                  <a:ext uri="{0D108BD9-81ED-4DB2-BD59-A6C34878D82A}">
                    <a16:rowId xmlns:a16="http://schemas.microsoft.com/office/drawing/2014/main" val="779578973"/>
                  </a:ext>
                </a:extLst>
              </a:tr>
              <a:tr h="1511413">
                <a:tc>
                  <a:txBody>
                    <a:bodyPr/>
                    <a:lstStyle/>
                    <a:p>
                      <a:pPr algn="just">
                        <a:lnSpc>
                          <a:spcPct val="150000"/>
                        </a:lnSpc>
                      </a:pPr>
                      <a:r>
                        <a:rPr lang="en-IN" sz="1600" dirty="0">
                          <a:latin typeface="Times New Roman" panose="02020603050405020304" pitchFamily="18" charset="0"/>
                          <a:cs typeface="Times New Roman" panose="02020603050405020304" pitchFamily="18" charset="0"/>
                        </a:rPr>
                        <a:t>4.</a:t>
                      </a:r>
                    </a:p>
                  </a:txBody>
                  <a:tcPr/>
                </a:tc>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“Advancements in Immunization Management for Personalized Vaccine Scheduling with </a:t>
                      </a:r>
                      <a:r>
                        <a:rPr lang="en-IN" sz="1600" b="1" kern="1200" dirty="0" err="1">
                          <a:solidFill>
                            <a:schemeClr val="dk1"/>
                          </a:solidFill>
                          <a:effectLst/>
                          <a:latin typeface="Times New Roman" panose="02020603050405020304" pitchFamily="18" charset="0"/>
                          <a:ea typeface="+mn-ea"/>
                          <a:cs typeface="Times New Roman" panose="02020603050405020304" pitchFamily="18" charset="0"/>
                        </a:rPr>
                        <a:t>IoT</a:t>
                      </a:r>
                      <a:r>
                        <a:rPr lang="en-IN" sz="1600" b="1" kern="1200" dirty="0">
                          <a:solidFill>
                            <a:schemeClr val="dk1"/>
                          </a:solidFill>
                          <a:effectLst/>
                          <a:latin typeface="Times New Roman" panose="02020603050405020304" pitchFamily="18" charset="0"/>
                          <a:ea typeface="+mn-ea"/>
                          <a:cs typeface="Times New Roman" panose="02020603050405020304" pitchFamily="18" charset="0"/>
                        </a:rPr>
                        <a:t> and Machine </a:t>
                      </a:r>
                      <a:r>
                        <a:rPr lang="en-IN" sz="1600" b="1" kern="1200" dirty="0" err="1">
                          <a:solidFill>
                            <a:schemeClr val="dk1"/>
                          </a:solidFill>
                          <a:effectLst/>
                          <a:latin typeface="Times New Roman" panose="02020603050405020304" pitchFamily="18" charset="0"/>
                          <a:ea typeface="+mn-ea"/>
                          <a:cs typeface="Times New Roman" panose="02020603050405020304" pitchFamily="18" charset="0"/>
                        </a:rPr>
                        <a:t>Learning”</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Dr</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M.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Madheswaran</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et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al.</a:t>
                      </a:r>
                      <a:r>
                        <a:rPr lang="en-IN" sz="1600" i="1" kern="1200" dirty="0" err="1">
                          <a:solidFill>
                            <a:schemeClr val="dk1"/>
                          </a:solidFill>
                          <a:effectLst/>
                          <a:latin typeface="Times New Roman" panose="02020603050405020304" pitchFamily="18" charset="0"/>
                          <a:ea typeface="+mn-ea"/>
                          <a:cs typeface="Times New Roman" panose="02020603050405020304" pitchFamily="18" charset="0"/>
                        </a:rPr>
                        <a:t>IEEE</a:t>
                      </a:r>
                      <a:r>
                        <a:rPr lang="en-IN" sz="1600" i="1" kern="1200" dirty="0">
                          <a:solidFill>
                            <a:schemeClr val="dk1"/>
                          </a:solidFill>
                          <a:effectLst/>
                          <a:latin typeface="Times New Roman" panose="02020603050405020304" pitchFamily="18" charset="0"/>
                          <a:ea typeface="+mn-ea"/>
                          <a:cs typeface="Times New Roman" panose="02020603050405020304" pitchFamily="18" charset="0"/>
                        </a:rPr>
                        <a:t> ICCSP, 2024</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IoT</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devices for real-time health data.</a:t>
                      </a:r>
                    </a:p>
                    <a:p>
                      <a:pPr marL="285750" indent="-285750" algn="just">
                        <a:buFont typeface="Arial" panose="020B0604020202020204" pitchFamily="34" charset="0"/>
                        <a:buChar cha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Decision Tree algorithm for vaccine scheduling.</a:t>
                      </a:r>
                    </a:p>
                    <a:p>
                      <a:pPr marL="285750" indent="-285750" algn="just">
                        <a:buFont typeface="Arial" panose="020B0604020202020204" pitchFamily="34" charset="0"/>
                        <a:buChar cha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Machine learning for predictive recommendations.</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 Use genetic and immune data for predictions.</a:t>
                      </a:r>
                    </a:p>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 Apply decentralized digital health records.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3243704"/>
                  </a:ext>
                </a:extLst>
              </a:tr>
              <a:tr h="1414206">
                <a:tc>
                  <a:txBody>
                    <a:bodyPr/>
                    <a:lstStyle/>
                    <a:p>
                      <a:pPr algn="just">
                        <a:lnSpc>
                          <a:spcPct val="150000"/>
                        </a:lnSpc>
                      </a:pPr>
                      <a:r>
                        <a:rPr lang="en-IN" sz="1600" dirty="0">
                          <a:latin typeface="Times New Roman" panose="02020603050405020304" pitchFamily="18" charset="0"/>
                          <a:cs typeface="Times New Roman" panose="02020603050405020304" pitchFamily="18" charset="0"/>
                        </a:rPr>
                        <a:t>5.</a:t>
                      </a:r>
                    </a:p>
                  </a:txBody>
                  <a:tcPr/>
                </a:tc>
                <a:tc>
                  <a:txBody>
                    <a:bodyPr/>
                    <a:lstStyle/>
                    <a:p>
                      <a:pPr algn="just">
                        <a:lnSpc>
                          <a:spcPct val="107000"/>
                        </a:lnSpc>
                        <a:spcAft>
                          <a:spcPts val="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“Cloud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IoT</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 Based Surveillance System for Tracking and Monitoring of Domestic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Animals”</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Ande</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NagaSai</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Manikanta</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et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al.</a:t>
                      </a:r>
                      <a:r>
                        <a:rPr lang="en-IN" sz="1600" i="1" dirty="0" err="1">
                          <a:effectLst/>
                          <a:latin typeface="Times New Roman" panose="02020603050405020304" pitchFamily="18" charset="0"/>
                          <a:ea typeface="Times New Roman" panose="02020603050405020304" pitchFamily="18" charset="0"/>
                          <a:cs typeface="Times New Roman" panose="02020603050405020304" pitchFamily="18" charset="0"/>
                        </a:rPr>
                        <a:t>IEEE</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 ICICACS, 2024</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IoT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sensors (LM35, MAX30100, GPS) with Arduino.</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Cloud data storage and GSM alerts.</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Real-time animal health tracking.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Add advanced ML for pattern analysis.</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Expand to multiple animal species.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048499091"/>
                  </a:ext>
                </a:extLst>
              </a:tr>
              <a:tr h="1414206">
                <a:tc>
                  <a:txBody>
                    <a:bodyPr/>
                    <a:lstStyle/>
                    <a:p>
                      <a:pPr algn="just"/>
                      <a:r>
                        <a:rPr lang="en-IN" dirty="0">
                          <a:latin typeface="Times New Roman" panose="02020603050405020304" pitchFamily="18" charset="0"/>
                          <a:cs typeface="Times New Roman" panose="02020603050405020304" pitchFamily="18" charset="0"/>
                        </a:rPr>
                        <a:t>6</a:t>
                      </a:r>
                      <a:r>
                        <a:rPr lang="en-IN">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7000"/>
                        </a:lnSpc>
                        <a:spcAft>
                          <a:spcPts val="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Web-Based Veterinary Clinic with e-Mail and SMS Notification</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Samuel S. Chua et al.</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effectLst/>
                          <a:latin typeface="Times New Roman" panose="02020603050405020304" pitchFamily="18" charset="0"/>
                          <a:ea typeface="Times New Roman" panose="02020603050405020304" pitchFamily="18" charset="0"/>
                          <a:cs typeface="Times New Roman" panose="02020603050405020304" pitchFamily="18" charset="0"/>
                        </a:rPr>
                        <a:t>ICBIR 2024, IEEE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Web app using PHP, MySQL, XAMPP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Waterfall SDLC model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Auto e-mail &amp; SMS alerts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Enhance site security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Add AI for reminders </a:t>
                      </a:r>
                    </a:p>
                    <a:p>
                      <a:pPr marL="285750" indent="-285750" algn="just">
                        <a:lnSpc>
                          <a:spcPct val="107000"/>
                        </a:lnSpc>
                        <a:spcAft>
                          <a:spcPts val="0"/>
                        </a:spcAft>
                        <a:buFont typeface="Arial" panose="020B0604020202020204" pitchFamily="34" charset="0"/>
                        <a:buChar cha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Support image attachments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42633767"/>
                  </a:ext>
                </a:extLst>
              </a:tr>
            </a:tbl>
          </a:graphicData>
        </a:graphic>
      </p:graphicFrame>
      <p:sp>
        <p:nvSpPr>
          <p:cNvPr id="7" name="Rectangle 6">
            <a:extLst>
              <a:ext uri="{FF2B5EF4-FFF2-40B4-BE49-F238E27FC236}">
                <a16:creationId xmlns:a16="http://schemas.microsoft.com/office/drawing/2014/main" id="{0A8DB0A2-DA47-B25C-F88B-CE01F9990290}"/>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LITERATURE SURVEY</a:t>
            </a:r>
          </a:p>
        </p:txBody>
      </p:sp>
      <p:pic>
        <p:nvPicPr>
          <p:cNvPr id="8" name="Picture 2" descr="A logo for a company&#10;&#10;AI-generated content may be incorrect.">
            <a:extLst>
              <a:ext uri="{FF2B5EF4-FFF2-40B4-BE49-F238E27FC236}">
                <a16:creationId xmlns:a16="http://schemas.microsoft.com/office/drawing/2014/main" id="{A587AA8B-4F6E-683E-0133-EA53DD952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17601"/>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Sai Vidya Institute of Technology - Wikipedia">
            <a:extLst>
              <a:ext uri="{FF2B5EF4-FFF2-40B4-BE49-F238E27FC236}">
                <a16:creationId xmlns:a16="http://schemas.microsoft.com/office/drawing/2014/main" id="{0696F762-0BB4-52C1-5FC7-0B8440190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28487"/>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9818CF7F-EE6E-2EE6-28CA-2A9F6ACB5DEE}"/>
              </a:ext>
            </a:extLst>
          </p:cNvPr>
          <p:cNvSpPr/>
          <p:nvPr/>
        </p:nvSpPr>
        <p:spPr>
          <a:xfrm>
            <a:off x="-1" y="6481170"/>
            <a:ext cx="12192000" cy="37683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12" name="TextBox 11">
            <a:extLst>
              <a:ext uri="{FF2B5EF4-FFF2-40B4-BE49-F238E27FC236}">
                <a16:creationId xmlns:a16="http://schemas.microsoft.com/office/drawing/2014/main" id="{F02F908F-275C-9177-B896-007096345AF8}"/>
              </a:ext>
            </a:extLst>
          </p:cNvPr>
          <p:cNvSpPr txBox="1"/>
          <p:nvPr/>
        </p:nvSpPr>
        <p:spPr>
          <a:xfrm>
            <a:off x="10697497" y="6481170"/>
            <a:ext cx="1494502" cy="369332"/>
          </a:xfrm>
          <a:prstGeom prst="rect">
            <a:avLst/>
          </a:prstGeom>
          <a:noFill/>
        </p:spPr>
        <p:txBody>
          <a:bodyPr wrap="square" rtlCol="0">
            <a:spAutoFit/>
          </a:bodyPr>
          <a:lstStyle/>
          <a:p>
            <a:r>
              <a:rPr lang="en-US" dirty="0"/>
              <a:t>                         5</a:t>
            </a:r>
            <a:endParaRPr lang="en-IN" dirty="0"/>
          </a:p>
        </p:txBody>
      </p:sp>
    </p:spTree>
    <p:extLst>
      <p:ext uri="{BB962C8B-B14F-4D97-AF65-F5344CB8AC3E}">
        <p14:creationId xmlns:p14="http://schemas.microsoft.com/office/powerpoint/2010/main" val="104092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968D5-3403-686C-6CDF-BB1FD379F9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A89F48-553A-6825-0415-6440D580BE71}"/>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C8E5A0CF-AF65-16EB-1201-D9FDA3B92106}"/>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RESEARCH GAP</a:t>
            </a:r>
          </a:p>
        </p:txBody>
      </p:sp>
      <p:pic>
        <p:nvPicPr>
          <p:cNvPr id="1027" name="Picture 2" descr="A logo for a company&#10;&#10;AI-generated content may be incorrect.">
            <a:extLst>
              <a:ext uri="{FF2B5EF4-FFF2-40B4-BE49-F238E27FC236}">
                <a16:creationId xmlns:a16="http://schemas.microsoft.com/office/drawing/2014/main" id="{8198715B-9ED0-9D08-BA4B-F326720A6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311BD376-E5B5-CF79-FD71-A2F60FD26E0E}"/>
              </a:ext>
            </a:extLst>
          </p:cNvPr>
          <p:cNvGraphicFramePr>
            <a:graphicFrameLocks noGrp="1"/>
          </p:cNvGraphicFramePr>
          <p:nvPr>
            <p:extLst>
              <p:ext uri="{D42A27DB-BD31-4B8C-83A1-F6EECF244321}">
                <p14:modId xmlns:p14="http://schemas.microsoft.com/office/powerpoint/2010/main" val="921193777"/>
              </p:ext>
            </p:extLst>
          </p:nvPr>
        </p:nvGraphicFramePr>
        <p:xfrm>
          <a:off x="260143" y="1089481"/>
          <a:ext cx="11266715" cy="5313584"/>
        </p:xfrm>
        <a:graphic>
          <a:graphicData uri="http://schemas.openxmlformats.org/drawingml/2006/table">
            <a:tbl>
              <a:tblPr firstRow="1" firstCol="1" bandRow="1">
                <a:tableStyleId>{5C22544A-7EE6-4342-B048-85BDC9FD1C3A}</a:tableStyleId>
              </a:tblPr>
              <a:tblGrid>
                <a:gridCol w="11266715">
                  <a:extLst>
                    <a:ext uri="{9D8B030D-6E8A-4147-A177-3AD203B41FA5}">
                      <a16:colId xmlns:a16="http://schemas.microsoft.com/office/drawing/2014/main" val="1495461617"/>
                    </a:ext>
                  </a:extLst>
                </a:gridCol>
              </a:tblGrid>
              <a:tr h="5313584">
                <a:tc>
                  <a:txBody>
                    <a:bodyPr/>
                    <a:lstStyle/>
                    <a:p>
                      <a:pPr marL="0" indent="0" algn="l">
                        <a:lnSpc>
                          <a:spcPct val="115000"/>
                        </a:lnSpc>
                        <a:spcAft>
                          <a:spcPts val="0"/>
                        </a:spcAft>
                        <a:buFont typeface="Wingdings" panose="05000000000000000000" pitchFamily="2" charset="2"/>
                        <a:buNone/>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à"/>
                      </a:pPr>
                      <a:r>
                        <a:rPr lang="en-US" sz="2000" b="1" kern="0" dirty="0">
                          <a:solidFill>
                            <a:schemeClr val="tx1"/>
                          </a:solidFill>
                          <a:effectLst/>
                          <a:latin typeface="Times New Roman" panose="02020603050405020304" pitchFamily="18" charset="0"/>
                          <a:cs typeface="Times New Roman" panose="02020603050405020304" pitchFamily="18" charset="0"/>
                        </a:rPr>
                        <a:t> </a:t>
                      </a:r>
                      <a:r>
                        <a:rPr lang="en-US" sz="2000" b="0" kern="0" dirty="0">
                          <a:solidFill>
                            <a:schemeClr val="tx1"/>
                          </a:solidFill>
                          <a:effectLst/>
                          <a:latin typeface="Times New Roman" panose="02020603050405020304" pitchFamily="18" charset="0"/>
                          <a:cs typeface="Times New Roman" panose="02020603050405020304" pitchFamily="18" charset="0"/>
                        </a:rPr>
                        <a:t>Existing solutions often address isolated aspects such as imaging or simple record-keeping</a:t>
                      </a:r>
                      <a:r>
                        <a:rPr lang="en-US" sz="2000" b="1" kern="0" dirty="0">
                          <a:solidFill>
                            <a:schemeClr val="tx1"/>
                          </a:solidFill>
                          <a:effectLst/>
                          <a:latin typeface="Times New Roman" panose="02020603050405020304" pitchFamily="18" charset="0"/>
                          <a:cs typeface="Times New Roman" panose="02020603050405020304" pitchFamily="18" charset="0"/>
                        </a:rPr>
                        <a:t>.</a:t>
                      </a:r>
                    </a:p>
                    <a:p>
                      <a:pPr marL="342900" indent="-342900" algn="l">
                        <a:lnSpc>
                          <a:spcPct val="115000"/>
                        </a:lnSpc>
                        <a:spcAft>
                          <a:spcPts val="0"/>
                        </a:spcAft>
                        <a:buFont typeface="Wingdings" panose="05000000000000000000" pitchFamily="2" charset="2"/>
                        <a:buChar char="à"/>
                      </a:pPr>
                      <a:endParaRPr lang="en-US" sz="2000" b="1" kern="0" dirty="0">
                        <a:solidFill>
                          <a:schemeClr val="accent4">
                            <a:lumMod val="50000"/>
                          </a:schemeClr>
                        </a:solidFill>
                        <a:effectLst/>
                        <a:latin typeface="Times New Roman" panose="02020603050405020304" pitchFamily="18" charset="0"/>
                        <a:cs typeface="Times New Roman" panose="02020603050405020304" pitchFamily="18" charset="0"/>
                      </a:endParaRPr>
                    </a:p>
                    <a:p>
                      <a:pPr marL="342900" indent="-342900" algn="l">
                        <a:lnSpc>
                          <a:spcPct val="115000"/>
                        </a:lnSpc>
                        <a:spcAft>
                          <a:spcPts val="0"/>
                        </a:spcAft>
                        <a:buFont typeface="Wingdings" panose="05000000000000000000" pitchFamily="2" charset="2"/>
                        <a:buChar char="à"/>
                      </a:pPr>
                      <a:r>
                        <a:rPr lang="en-US" sz="2000" b="1" kern="0" dirty="0">
                          <a:solidFill>
                            <a:schemeClr val="tx1"/>
                          </a:solidFill>
                          <a:effectLst/>
                          <a:latin typeface="Times New Roman" panose="02020603050405020304" pitchFamily="18" charset="0"/>
                          <a:cs typeface="Times New Roman" panose="02020603050405020304" pitchFamily="18" charset="0"/>
                        </a:rPr>
                        <a:t> </a:t>
                      </a:r>
                      <a:r>
                        <a:rPr lang="en-US" sz="2000" b="0" kern="0" dirty="0">
                          <a:solidFill>
                            <a:schemeClr val="tx1"/>
                          </a:solidFill>
                          <a:effectLst/>
                          <a:latin typeface="Times New Roman" panose="02020603050405020304" pitchFamily="18" charset="0"/>
                          <a:cs typeface="Times New Roman" panose="02020603050405020304" pitchFamily="18" charset="0"/>
                        </a:rPr>
                        <a:t>Limited support for end-to-end decision-making in veterinary practice, particularly for multi-species, rural, and resource-limited contexts</a:t>
                      </a:r>
                    </a:p>
                    <a:p>
                      <a:pPr marL="342900" indent="-342900" algn="l">
                        <a:lnSpc>
                          <a:spcPct val="115000"/>
                        </a:lnSpc>
                        <a:spcAft>
                          <a:spcPts val="0"/>
                        </a:spcAft>
                        <a:buFont typeface="Wingdings" panose="05000000000000000000" pitchFamily="2" charset="2"/>
                        <a:buChar char="à"/>
                      </a:pPr>
                      <a:endParaRPr lang="en-US" sz="2000" b="1" kern="0" dirty="0">
                        <a:solidFill>
                          <a:schemeClr val="accent4">
                            <a:lumMod val="50000"/>
                          </a:schemeClr>
                        </a:solidFill>
                        <a:effectLst/>
                        <a:latin typeface="Times New Roman" panose="02020603050405020304" pitchFamily="18" charset="0"/>
                        <a:cs typeface="Times New Roman" panose="02020603050405020304" pitchFamily="18" charset="0"/>
                      </a:endParaRPr>
                    </a:p>
                    <a:p>
                      <a:pPr marL="342900" indent="-342900" algn="l">
                        <a:lnSpc>
                          <a:spcPct val="115000"/>
                        </a:lnSpc>
                        <a:spcAft>
                          <a:spcPts val="0"/>
                        </a:spcAft>
                        <a:buFont typeface="Wingdings" panose="05000000000000000000" pitchFamily="2" charset="2"/>
                        <a:buChar char="à"/>
                      </a:pPr>
                      <a:r>
                        <a:rPr lang="en-US" sz="2000" b="0" kern="0" dirty="0">
                          <a:solidFill>
                            <a:schemeClr val="tx1"/>
                          </a:solidFill>
                          <a:effectLst/>
                          <a:latin typeface="Times New Roman" panose="02020603050405020304" pitchFamily="18" charset="0"/>
                          <a:cs typeface="Times New Roman" panose="02020603050405020304" pitchFamily="18" charset="0"/>
                        </a:rPr>
                        <a:t>A need for integrated platforms combining health record management, AI-based symptom analysis, and actionable recommendations.</a:t>
                      </a:r>
                      <a:endParaRPr lang="en-IN" sz="2000" b="0" kern="0" dirty="0">
                        <a:solidFill>
                          <a:schemeClr val="tx1"/>
                        </a:solidFill>
                        <a:effectLst/>
                        <a:latin typeface="Times New Roman" panose="02020603050405020304" pitchFamily="18"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B1837CA8-74BB-9304-B493-955937EEF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10ACB4A7-D49A-0FD4-18E3-FF25731304BF}"/>
              </a:ext>
            </a:extLst>
          </p:cNvPr>
          <p:cNvSpPr>
            <a:spLocks noGrp="1"/>
          </p:cNvSpPr>
          <p:nvPr>
            <p:ph type="sldNum" sz="quarter" idx="12"/>
          </p:nvPr>
        </p:nvSpPr>
        <p:spPr>
          <a:xfrm>
            <a:off x="9448800" y="6600377"/>
            <a:ext cx="2743200" cy="365125"/>
          </a:xfrm>
        </p:spPr>
        <p:txBody>
          <a:bodyPr/>
          <a:lstStyle/>
          <a:p>
            <a:fld id="{81A835E2-40D7-45A2-9147-8DCED05EC221}" type="slidenum">
              <a:rPr lang="en-IN" sz="16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6</a:t>
            </a:fld>
            <a:endParaRPr lang="en-IN" sz="16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07395"/>
            <a:ext cx="12192000" cy="36512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EF1C2CB1-AE1D-66BA-90C6-281F3CD2F4A5}"/>
              </a:ext>
            </a:extLst>
          </p:cNvPr>
          <p:cNvSpPr txBox="1"/>
          <p:nvPr/>
        </p:nvSpPr>
        <p:spPr>
          <a:xfrm>
            <a:off x="11021962" y="6520628"/>
            <a:ext cx="1170038" cy="369332"/>
          </a:xfrm>
          <a:prstGeom prst="rect">
            <a:avLst/>
          </a:prstGeom>
          <a:noFill/>
        </p:spPr>
        <p:txBody>
          <a:bodyPr wrap="square" rtlCol="0">
            <a:spAutoFit/>
          </a:bodyPr>
          <a:lstStyle/>
          <a:p>
            <a:r>
              <a:rPr lang="en-US" dirty="0"/>
              <a:t>                  6</a:t>
            </a:r>
            <a:endParaRPr lang="en-IN" dirty="0"/>
          </a:p>
        </p:txBody>
      </p:sp>
    </p:spTree>
    <p:extLst>
      <p:ext uri="{BB962C8B-B14F-4D97-AF65-F5344CB8AC3E}">
        <p14:creationId xmlns:p14="http://schemas.microsoft.com/office/powerpoint/2010/main" val="4030436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968D5-3403-686C-6CDF-BB1FD379F9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A89F48-553A-6825-0415-6440D580BE71}"/>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C8E5A0CF-AF65-16EB-1201-D9FDA3B92106}"/>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PROBLEM STATEMENT</a:t>
            </a:r>
          </a:p>
        </p:txBody>
      </p:sp>
      <p:pic>
        <p:nvPicPr>
          <p:cNvPr id="1027" name="Picture 2" descr="A logo for a company&#10;&#10;AI-generated content may be incorrect.">
            <a:extLst>
              <a:ext uri="{FF2B5EF4-FFF2-40B4-BE49-F238E27FC236}">
                <a16:creationId xmlns:a16="http://schemas.microsoft.com/office/drawing/2014/main" id="{8198715B-9ED0-9D08-BA4B-F326720A6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311BD376-E5B5-CF79-FD71-A2F60FD26E0E}"/>
              </a:ext>
            </a:extLst>
          </p:cNvPr>
          <p:cNvGraphicFramePr>
            <a:graphicFrameLocks noGrp="1"/>
          </p:cNvGraphicFramePr>
          <p:nvPr>
            <p:extLst>
              <p:ext uri="{D42A27DB-BD31-4B8C-83A1-F6EECF244321}">
                <p14:modId xmlns:p14="http://schemas.microsoft.com/office/powerpoint/2010/main" val="2020789139"/>
              </p:ext>
            </p:extLst>
          </p:nvPr>
        </p:nvGraphicFramePr>
        <p:xfrm>
          <a:off x="446314" y="1021902"/>
          <a:ext cx="11266715" cy="5313584"/>
        </p:xfrm>
        <a:graphic>
          <a:graphicData uri="http://schemas.openxmlformats.org/drawingml/2006/table">
            <a:tbl>
              <a:tblPr firstRow="1" firstCol="1" bandRow="1">
                <a:tableStyleId>{5C22544A-7EE6-4342-B048-85BDC9FD1C3A}</a:tableStyleId>
              </a:tblPr>
              <a:tblGrid>
                <a:gridCol w="11266715">
                  <a:extLst>
                    <a:ext uri="{9D8B030D-6E8A-4147-A177-3AD203B41FA5}">
                      <a16:colId xmlns:a16="http://schemas.microsoft.com/office/drawing/2014/main" val="1495461617"/>
                    </a:ext>
                  </a:extLst>
                </a:gridCol>
              </a:tblGrid>
              <a:tr h="5313584">
                <a:tc>
                  <a:txBody>
                    <a:bodyPr/>
                    <a:lstStyle/>
                    <a:p>
                      <a:pPr marL="0" marR="0" lvl="0" indent="0" algn="just"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endParaRPr lang="en-IN" sz="28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0" marR="0" lvl="0" indent="0" algn="just"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endParaRPr lang="en-IN" sz="28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0" marR="0" lvl="0" indent="0" algn="just"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endParaRPr lang="en-IN" sz="28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0" marR="0" lvl="0" indent="0" algn="just"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r>
                        <a:rPr lang="en-IN" sz="28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To Design and Implement an intelligent veterinary management system that leverages</a:t>
                      </a:r>
                      <a:r>
                        <a:rPr lang="en-IN" sz="2800" b="0" kern="0" baseline="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 </a:t>
                      </a:r>
                      <a:r>
                        <a:rPr lang="en-IN" sz="28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Artificial Intelligence and data-driven decision-making to streamline medical record management, support accurate health monitoring, and enable timely interventions for animals.</a:t>
                      </a:r>
                    </a:p>
                    <a:p>
                      <a:pPr marL="0" marR="0" lvl="0" indent="0" algn="just"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endParaRPr lang="en-IN" sz="28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B1837CA8-74BB-9304-B493-955937EEF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10ACB4A7-D49A-0FD4-18E3-FF25731304BF}"/>
              </a:ext>
            </a:extLst>
          </p:cNvPr>
          <p:cNvSpPr>
            <a:spLocks noGrp="1"/>
          </p:cNvSpPr>
          <p:nvPr>
            <p:ph type="sldNum" sz="quarter" idx="12"/>
          </p:nvPr>
        </p:nvSpPr>
        <p:spPr>
          <a:xfrm>
            <a:off x="9448800" y="6600377"/>
            <a:ext cx="2743200" cy="365125"/>
          </a:xfrm>
        </p:spPr>
        <p:txBody>
          <a:bodyPr/>
          <a:lstStyle/>
          <a:p>
            <a:fld id="{81A835E2-40D7-45A2-9147-8DCED05EC221}" type="slidenum">
              <a:rPr lang="en-IN" sz="16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7</a:t>
            </a:fld>
            <a:endParaRPr lang="en-IN" sz="16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8810BBE1-1342-D23D-D542-E67A8906F6B6}"/>
              </a:ext>
            </a:extLst>
          </p:cNvPr>
          <p:cNvSpPr txBox="1"/>
          <p:nvPr/>
        </p:nvSpPr>
        <p:spPr>
          <a:xfrm>
            <a:off x="10589342" y="6578146"/>
            <a:ext cx="1700981" cy="369332"/>
          </a:xfrm>
          <a:prstGeom prst="rect">
            <a:avLst/>
          </a:prstGeom>
          <a:noFill/>
        </p:spPr>
        <p:txBody>
          <a:bodyPr wrap="square" rtlCol="0">
            <a:spAutoFit/>
          </a:bodyPr>
          <a:lstStyle/>
          <a:p>
            <a:r>
              <a:rPr lang="en-US" dirty="0"/>
              <a:t>                            7</a:t>
            </a:r>
            <a:endParaRPr lang="en-IN" dirty="0"/>
          </a:p>
        </p:txBody>
      </p:sp>
    </p:spTree>
    <p:extLst>
      <p:ext uri="{BB962C8B-B14F-4D97-AF65-F5344CB8AC3E}">
        <p14:creationId xmlns:p14="http://schemas.microsoft.com/office/powerpoint/2010/main" val="361253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B0FD-FCDD-CBA7-927B-41194E6163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29844F5-1C6D-4D7A-9C97-279393E7DC35}"/>
              </a:ext>
            </a:extLst>
          </p:cNvPr>
          <p:cNvSpPr/>
          <p:nvPr/>
        </p:nvSpPr>
        <p:spPr>
          <a:xfrm>
            <a:off x="9331" y="46655"/>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035434E0-E957-2F87-85B3-FF9895F71342}"/>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OBJECTIVES</a:t>
            </a:r>
          </a:p>
        </p:txBody>
      </p:sp>
      <p:pic>
        <p:nvPicPr>
          <p:cNvPr id="1027" name="Picture 2" descr="A logo for a company&#10;&#10;AI-generated content may be incorrect.">
            <a:extLst>
              <a:ext uri="{FF2B5EF4-FFF2-40B4-BE49-F238E27FC236}">
                <a16:creationId xmlns:a16="http://schemas.microsoft.com/office/drawing/2014/main" id="{490A94DC-E3CC-30E1-1E1E-D01C911E8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3DEC948D-D156-4E00-CD73-2E34CB685ECF}"/>
              </a:ext>
            </a:extLst>
          </p:cNvPr>
          <p:cNvGraphicFramePr>
            <a:graphicFrameLocks noGrp="1"/>
          </p:cNvGraphicFramePr>
          <p:nvPr>
            <p:extLst>
              <p:ext uri="{D42A27DB-BD31-4B8C-83A1-F6EECF244321}">
                <p14:modId xmlns:p14="http://schemas.microsoft.com/office/powerpoint/2010/main" val="3459985610"/>
              </p:ext>
            </p:extLst>
          </p:nvPr>
        </p:nvGraphicFramePr>
        <p:xfrm>
          <a:off x="446314" y="1021902"/>
          <a:ext cx="11266715" cy="5313584"/>
        </p:xfrm>
        <a:graphic>
          <a:graphicData uri="http://schemas.openxmlformats.org/drawingml/2006/table">
            <a:tbl>
              <a:tblPr firstRow="1" firstCol="1" bandRow="1">
                <a:tableStyleId>{5C22544A-7EE6-4342-B048-85BDC9FD1C3A}</a:tableStyleId>
              </a:tblPr>
              <a:tblGrid>
                <a:gridCol w="11266715">
                  <a:extLst>
                    <a:ext uri="{9D8B030D-6E8A-4147-A177-3AD203B41FA5}">
                      <a16:colId xmlns:a16="http://schemas.microsoft.com/office/drawing/2014/main" val="1495461617"/>
                    </a:ext>
                  </a:extLst>
                </a:gridCol>
              </a:tblGrid>
              <a:tr h="5313584">
                <a:tc>
                  <a:txBody>
                    <a:bodyPr/>
                    <a:lstStyle/>
                    <a:p>
                      <a:pPr marL="342900" indent="-342900" algn="just">
                        <a:lnSpc>
                          <a:spcPct val="115000"/>
                        </a:lnSpc>
                        <a:spcAft>
                          <a:spcPts val="0"/>
                        </a:spcAft>
                        <a:buFont typeface="Wingdings" panose="05000000000000000000" pitchFamily="2" charset="2"/>
                        <a:buChar char="ü"/>
                      </a:pPr>
                      <a:endParaRPr lang="en-US" sz="2000" b="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ü"/>
                      </a:pPr>
                      <a:endParaRPr lang="en-US" sz="2000" b="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ü"/>
                      </a:pPr>
                      <a:r>
                        <a:rPr lang="en-US" sz="2400" b="0" dirty="0">
                          <a:solidFill>
                            <a:schemeClr val="tx1"/>
                          </a:solidFill>
                          <a:latin typeface="Times New Roman" panose="02020603050405020304" pitchFamily="18" charset="0"/>
                          <a:cs typeface="Times New Roman" panose="02020603050405020304" pitchFamily="18" charset="0"/>
                        </a:rPr>
                        <a:t>Digitize and centralize animal health records for easy access and update.</a:t>
                      </a:r>
                    </a:p>
                    <a:p>
                      <a:pPr marL="342900" indent="-342900" algn="just">
                        <a:lnSpc>
                          <a:spcPct val="115000"/>
                        </a:lnSpc>
                        <a:spcAft>
                          <a:spcPts val="0"/>
                        </a:spcAft>
                        <a:buFont typeface="Wingdings" panose="05000000000000000000" pitchFamily="2" charset="2"/>
                        <a:buChar char="ü"/>
                      </a:pPr>
                      <a:endParaRPr lang="en-US" sz="2400" b="0" dirty="0">
                        <a:solidFill>
                          <a:schemeClr val="tx1"/>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0"/>
                        </a:spcAft>
                        <a:buClrTx/>
                        <a:buSzTx/>
                        <a:buFont typeface="Wingdings" panose="05000000000000000000" pitchFamily="2" charset="2"/>
                        <a:buChar char="ü"/>
                        <a:tabLst/>
                        <a:defRPr/>
                      </a:pPr>
                      <a:r>
                        <a:rPr lang="en-IN"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I</a:t>
                      </a:r>
                      <a:r>
                        <a:rPr lang="en-US"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ntegrate</a:t>
                      </a:r>
                      <a:r>
                        <a:rPr lang="en-US" sz="2400" b="0" kern="0" baseline="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 </a:t>
                      </a:r>
                      <a:r>
                        <a:rPr lang="en-US"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AI to analyze symptoms and suggest possible diagnoses.</a:t>
                      </a:r>
                      <a:endParaRPr lang="en-IN"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marR="0" lvl="0" indent="-342900" algn="just" defTabSz="914400" rtl="0" eaLnBrk="1" fontAlgn="auto" latinLnBrk="0" hangingPunct="1">
                        <a:lnSpc>
                          <a:spcPct val="115000"/>
                        </a:lnSpc>
                        <a:spcBef>
                          <a:spcPts val="0"/>
                        </a:spcBef>
                        <a:spcAft>
                          <a:spcPts val="0"/>
                        </a:spcAft>
                        <a:buClrTx/>
                        <a:buSzTx/>
                        <a:buFont typeface="Wingdings" panose="05000000000000000000" pitchFamily="2" charset="2"/>
                        <a:buChar char="ü"/>
                        <a:tabLst/>
                        <a:defRPr/>
                      </a:pPr>
                      <a:endParaRPr lang="en-IN"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marR="0" lvl="0" indent="-342900" algn="l" defTabSz="914400" rtl="0" eaLnBrk="1" fontAlgn="auto" latinLnBrk="0" hangingPunct="1">
                        <a:lnSpc>
                          <a:spcPct val="115000"/>
                        </a:lnSpc>
                        <a:spcBef>
                          <a:spcPts val="0"/>
                        </a:spcBef>
                        <a:spcAft>
                          <a:spcPts val="0"/>
                        </a:spcAft>
                        <a:buClrTx/>
                        <a:buSzTx/>
                        <a:buFont typeface="Wingdings" panose="05000000000000000000" pitchFamily="2" charset="2"/>
                        <a:buChar char="ü"/>
                        <a:tabLst/>
                        <a:defRPr/>
                      </a:pPr>
                      <a:r>
                        <a:rPr lang="en-US" sz="2400" b="0" dirty="0">
                          <a:solidFill>
                            <a:schemeClr val="tx1"/>
                          </a:solidFill>
                          <a:latin typeface="Times New Roman" panose="02020603050405020304" pitchFamily="18" charset="0"/>
                          <a:cs typeface="Times New Roman" panose="02020603050405020304" pitchFamily="18" charset="0"/>
                        </a:rPr>
                        <a:t>Provide veterinarians with intelligent recommendations.</a:t>
                      </a:r>
                    </a:p>
                    <a:p>
                      <a:pPr marL="342900" marR="0" lvl="0" indent="-342900" algn="l" defTabSz="914400" rtl="0" eaLnBrk="1" fontAlgn="auto" latinLnBrk="0" hangingPunct="1">
                        <a:lnSpc>
                          <a:spcPct val="115000"/>
                        </a:lnSpc>
                        <a:spcBef>
                          <a:spcPts val="0"/>
                        </a:spcBef>
                        <a:spcAft>
                          <a:spcPts val="0"/>
                        </a:spcAft>
                        <a:buClrTx/>
                        <a:buSzTx/>
                        <a:buFont typeface="Wingdings" panose="05000000000000000000" pitchFamily="2" charset="2"/>
                        <a:buChar char="ü"/>
                        <a:tabLst/>
                        <a:defRPr/>
                      </a:pPr>
                      <a:endParaRPr lang="en-US" sz="2400" b="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0"/>
                        </a:spcAft>
                        <a:buClrTx/>
                        <a:buSzTx/>
                        <a:buFont typeface="Wingdings" panose="05000000000000000000" pitchFamily="2" charset="2"/>
                        <a:buChar char="ü"/>
                        <a:tabLst/>
                        <a:defRPr/>
                      </a:pPr>
                      <a:r>
                        <a:rPr lang="en-US"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Enable features like vaccination data, health status prediction, and automated PDF reporting.</a:t>
                      </a:r>
                      <a:endParaRPr lang="en-IN" sz="24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à"/>
                      </a:pPr>
                      <a:endParaRPr lang="en-IN" sz="2000" b="1" kern="0" dirty="0">
                        <a:solidFill>
                          <a:schemeClr val="accent4">
                            <a:lumMod val="50000"/>
                          </a:schemeClr>
                        </a:solidFill>
                        <a:effectLst/>
                        <a:latin typeface="Agency FB" panose="020B0503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26466903-8029-D4BA-4E3F-F342A9CE9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0D4FB134-053B-7B03-CB39-35E0C59DDE29}"/>
              </a:ext>
            </a:extLst>
          </p:cNvPr>
          <p:cNvSpPr>
            <a:spLocks noGrp="1"/>
          </p:cNvSpPr>
          <p:nvPr>
            <p:ph type="sldNum" sz="quarter" idx="12"/>
          </p:nvPr>
        </p:nvSpPr>
        <p:spPr>
          <a:xfrm>
            <a:off x="9448800" y="6569754"/>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8</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626D35C6-7C45-3C50-C321-DEEA7E10CC2E}"/>
              </a:ext>
            </a:extLst>
          </p:cNvPr>
          <p:cNvSpPr txBox="1"/>
          <p:nvPr/>
        </p:nvSpPr>
        <p:spPr>
          <a:xfrm>
            <a:off x="10776155" y="6578146"/>
            <a:ext cx="1415845" cy="369332"/>
          </a:xfrm>
          <a:prstGeom prst="rect">
            <a:avLst/>
          </a:prstGeom>
          <a:noFill/>
        </p:spPr>
        <p:txBody>
          <a:bodyPr wrap="square" rtlCol="0">
            <a:spAutoFit/>
          </a:bodyPr>
          <a:lstStyle/>
          <a:p>
            <a:r>
              <a:rPr lang="en-US" dirty="0"/>
              <a:t>                        8</a:t>
            </a:r>
            <a:endParaRPr lang="en-IN" dirty="0"/>
          </a:p>
        </p:txBody>
      </p:sp>
    </p:spTree>
    <p:extLst>
      <p:ext uri="{BB962C8B-B14F-4D97-AF65-F5344CB8AC3E}">
        <p14:creationId xmlns:p14="http://schemas.microsoft.com/office/powerpoint/2010/main" val="3375130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E67B7-4FB4-CC9A-F5E5-77EE39EE34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022D69-79C6-2A11-740C-27DEC0C17C38}"/>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8A61F859-85C3-87C3-4736-9091F8C62F83}"/>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PROPOSED METHODOLOGY</a:t>
            </a:r>
          </a:p>
        </p:txBody>
      </p:sp>
      <p:sp>
        <p:nvSpPr>
          <p:cNvPr id="7" name="Rectangle 6">
            <a:extLst>
              <a:ext uri="{FF2B5EF4-FFF2-40B4-BE49-F238E27FC236}">
                <a16:creationId xmlns:a16="http://schemas.microsoft.com/office/drawing/2014/main" id="{98F71547-864F-45CC-87F5-8FF410240468}"/>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ARTIFICIAL INTELLIGENCE &amp; MACHINE LEARNING</a:t>
            </a:r>
          </a:p>
        </p:txBody>
      </p:sp>
      <p:pic>
        <p:nvPicPr>
          <p:cNvPr id="1027" name="Picture 2" descr="A logo for a company&#10;&#10;AI-generated content may be incorrect.">
            <a:extLst>
              <a:ext uri="{FF2B5EF4-FFF2-40B4-BE49-F238E27FC236}">
                <a16:creationId xmlns:a16="http://schemas.microsoft.com/office/drawing/2014/main" id="{CC976609-9137-F375-9BF3-7776998574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22123AFA-660C-DF00-72F6-F60478ED2006}"/>
              </a:ext>
            </a:extLst>
          </p:cNvPr>
          <p:cNvGraphicFramePr>
            <a:graphicFrameLocks noGrp="1"/>
          </p:cNvGraphicFramePr>
          <p:nvPr>
            <p:extLst>
              <p:ext uri="{D42A27DB-BD31-4B8C-83A1-F6EECF244321}">
                <p14:modId xmlns:p14="http://schemas.microsoft.com/office/powerpoint/2010/main" val="3543130514"/>
              </p:ext>
            </p:extLst>
          </p:nvPr>
        </p:nvGraphicFramePr>
        <p:xfrm>
          <a:off x="446313" y="1021902"/>
          <a:ext cx="11394587" cy="5480044"/>
        </p:xfrm>
        <a:graphic>
          <a:graphicData uri="http://schemas.openxmlformats.org/drawingml/2006/table">
            <a:tbl>
              <a:tblPr firstRow="1" firstCol="1" bandRow="1">
                <a:tableStyleId>{5C22544A-7EE6-4342-B048-85BDC9FD1C3A}</a:tableStyleId>
              </a:tblPr>
              <a:tblGrid>
                <a:gridCol w="11394587">
                  <a:extLst>
                    <a:ext uri="{9D8B030D-6E8A-4147-A177-3AD203B41FA5}">
                      <a16:colId xmlns:a16="http://schemas.microsoft.com/office/drawing/2014/main" val="1495461617"/>
                    </a:ext>
                  </a:extLst>
                </a:gridCol>
              </a:tblGrid>
              <a:tr h="5480044">
                <a:tc>
                  <a:txBody>
                    <a:bodyPr/>
                    <a:lstStyle/>
                    <a:p>
                      <a:pPr marL="342900" indent="-342900" algn="just">
                        <a:lnSpc>
                          <a:spcPct val="115000"/>
                        </a:lnSpc>
                        <a:spcAft>
                          <a:spcPts val="0"/>
                        </a:spcAft>
                        <a:buFont typeface="Wingdings" panose="05000000000000000000" pitchFamily="2" charset="2"/>
                        <a:buChar char="q"/>
                      </a:pPr>
                      <a:r>
                        <a:rPr lang="en-US" sz="1900" b="0" kern="0" dirty="0">
                          <a:solidFill>
                            <a:schemeClr val="tx1"/>
                          </a:solidFill>
                          <a:effectLst/>
                          <a:latin typeface="Times New Roman" panose="02020603050405020304" pitchFamily="18" charset="0"/>
                          <a:cs typeface="Times New Roman" panose="02020603050405020304" pitchFamily="18" charset="0"/>
                        </a:rPr>
                        <a:t>In the application, veterinary doctors serve as the main users, while the</a:t>
                      </a:r>
                      <a:r>
                        <a:rPr lang="en-US" sz="1900" b="0" kern="0" baseline="0" dirty="0">
                          <a:solidFill>
                            <a:schemeClr val="tx1"/>
                          </a:solidFill>
                          <a:effectLst/>
                          <a:latin typeface="Times New Roman" panose="02020603050405020304" pitchFamily="18" charset="0"/>
                          <a:cs typeface="Times New Roman" panose="02020603050405020304" pitchFamily="18" charset="0"/>
                        </a:rPr>
                        <a:t> </a:t>
                      </a:r>
                      <a:r>
                        <a:rPr lang="en-US" sz="1900" b="0" kern="0" dirty="0">
                          <a:solidFill>
                            <a:schemeClr val="tx1"/>
                          </a:solidFill>
                          <a:effectLst/>
                          <a:latin typeface="Times New Roman" panose="02020603050405020304" pitchFamily="18" charset="0"/>
                          <a:cs typeface="Times New Roman" panose="02020603050405020304" pitchFamily="18" charset="0"/>
                        </a:rPr>
                        <a:t>AI assistant functions as a supportive tool to assist in diagnosis.</a:t>
                      </a:r>
                    </a:p>
                    <a:p>
                      <a:pPr marL="342900" indent="-342900" algn="just">
                        <a:lnSpc>
                          <a:spcPct val="115000"/>
                        </a:lnSpc>
                        <a:spcAft>
                          <a:spcPts val="0"/>
                        </a:spcAft>
                        <a:buFont typeface="Wingdings" panose="05000000000000000000" pitchFamily="2" charset="2"/>
                        <a:buChar char="q"/>
                      </a:pPr>
                      <a:endParaRPr lang="en-US" sz="1900" b="0" kern="0" dirty="0">
                        <a:solidFill>
                          <a:schemeClr val="tx1"/>
                        </a:solidFill>
                        <a:effectLst/>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b="0" kern="0" dirty="0">
                          <a:solidFill>
                            <a:schemeClr val="tx1"/>
                          </a:solidFill>
                          <a:effectLst/>
                          <a:latin typeface="Times New Roman" panose="02020603050405020304" pitchFamily="18" charset="0"/>
                          <a:cs typeface="Times New Roman" panose="02020603050405020304" pitchFamily="18" charset="0"/>
                        </a:rPr>
                        <a:t>Design a structured tables for animals, and their health history to ensure easy retrieval of data. </a:t>
                      </a:r>
                    </a:p>
                    <a:p>
                      <a:pPr marL="342900" indent="-342900" algn="just">
                        <a:lnSpc>
                          <a:spcPct val="115000"/>
                        </a:lnSpc>
                        <a:spcAft>
                          <a:spcPts val="0"/>
                        </a:spcAft>
                        <a:buFont typeface="Wingdings" panose="05000000000000000000" pitchFamily="2" charset="2"/>
                        <a:buChar char="q"/>
                      </a:pPr>
                      <a:endParaRPr lang="en-US" sz="1900" b="0" kern="0" dirty="0">
                        <a:solidFill>
                          <a:schemeClr val="tx1"/>
                        </a:solidFill>
                        <a:effectLst/>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b="0" kern="0" dirty="0">
                          <a:solidFill>
                            <a:schemeClr val="tx1"/>
                          </a:solidFill>
                          <a:effectLst/>
                          <a:latin typeface="Times New Roman" panose="02020603050405020304" pitchFamily="18" charset="0"/>
                          <a:cs typeface="Times New Roman" panose="02020603050405020304" pitchFamily="18" charset="0"/>
                        </a:rPr>
                        <a:t>Develop core modules including:</a:t>
                      </a:r>
                      <a:r>
                        <a:rPr lang="en-US" sz="1900" b="0" kern="0" baseline="0" dirty="0">
                          <a:solidFill>
                            <a:schemeClr val="tx1"/>
                          </a:solidFill>
                          <a:effectLst/>
                          <a:latin typeface="Times New Roman" panose="02020603050405020304" pitchFamily="18" charset="0"/>
                          <a:cs typeface="Times New Roman" panose="02020603050405020304" pitchFamily="18" charset="0"/>
                        </a:rPr>
                        <a:t> </a:t>
                      </a:r>
                    </a:p>
                    <a:p>
                      <a:pPr marL="914400" lvl="1" indent="-457200" algn="just">
                        <a:lnSpc>
                          <a:spcPct val="115000"/>
                        </a:lnSpc>
                        <a:spcAft>
                          <a:spcPts val="0"/>
                        </a:spcAft>
                        <a:buFont typeface="+mj-lt"/>
                        <a:buAutoNum type="arabicPeriod"/>
                      </a:pPr>
                      <a:r>
                        <a:rPr lang="en-US" sz="1900" b="0" kern="0" dirty="0">
                          <a:solidFill>
                            <a:schemeClr val="tx1"/>
                          </a:solidFill>
                          <a:effectLst/>
                          <a:latin typeface="Times New Roman" panose="02020603050405020304" pitchFamily="18" charset="0"/>
                          <a:cs typeface="Times New Roman" panose="02020603050405020304" pitchFamily="18" charset="0"/>
                        </a:rPr>
                        <a:t>Doctor Module</a:t>
                      </a:r>
                      <a:r>
                        <a:rPr lang="en-US" sz="1900" b="0" kern="0" baseline="0" dirty="0">
                          <a:solidFill>
                            <a:schemeClr val="tx1"/>
                          </a:solidFill>
                          <a:effectLst/>
                          <a:latin typeface="Times New Roman" panose="02020603050405020304" pitchFamily="18" charset="0"/>
                          <a:cs typeface="Times New Roman" panose="02020603050405020304" pitchFamily="18" charset="0"/>
                        </a:rPr>
                        <a:t> - </a:t>
                      </a:r>
                      <a:r>
                        <a:rPr lang="en-US" sz="1900" b="0" kern="0" dirty="0">
                          <a:solidFill>
                            <a:schemeClr val="tx1"/>
                          </a:solidFill>
                          <a:effectLst/>
                          <a:latin typeface="Times New Roman" panose="02020603050405020304" pitchFamily="18" charset="0"/>
                          <a:cs typeface="Times New Roman" panose="02020603050405020304" pitchFamily="18" charset="0"/>
                        </a:rPr>
                        <a:t>for login.</a:t>
                      </a:r>
                    </a:p>
                    <a:p>
                      <a:pPr marL="914400" lvl="1" indent="-457200" algn="just">
                        <a:lnSpc>
                          <a:spcPct val="115000"/>
                        </a:lnSpc>
                        <a:spcAft>
                          <a:spcPts val="0"/>
                        </a:spcAft>
                        <a:buFont typeface="+mj-lt"/>
                        <a:buAutoNum type="arabicPeriod"/>
                      </a:pPr>
                      <a:r>
                        <a:rPr lang="en-US" sz="1900" b="0" kern="0" dirty="0">
                          <a:solidFill>
                            <a:schemeClr val="tx1"/>
                          </a:solidFill>
                          <a:effectLst/>
                          <a:latin typeface="Times New Roman" panose="02020603050405020304" pitchFamily="18" charset="0"/>
                          <a:cs typeface="Times New Roman" panose="02020603050405020304" pitchFamily="18" charset="0"/>
                        </a:rPr>
                        <a:t>Animal Module</a:t>
                      </a:r>
                      <a:r>
                        <a:rPr lang="en-US" sz="1900" b="0" kern="0" baseline="0" dirty="0">
                          <a:solidFill>
                            <a:schemeClr val="tx1"/>
                          </a:solidFill>
                          <a:effectLst/>
                          <a:latin typeface="Times New Roman" panose="02020603050405020304" pitchFamily="18" charset="0"/>
                          <a:cs typeface="Times New Roman" panose="02020603050405020304" pitchFamily="18" charset="0"/>
                        </a:rPr>
                        <a:t> -</a:t>
                      </a:r>
                      <a:r>
                        <a:rPr lang="en-US" sz="1900" b="0" kern="0" dirty="0">
                          <a:solidFill>
                            <a:schemeClr val="tx1"/>
                          </a:solidFill>
                          <a:effectLst/>
                          <a:latin typeface="Times New Roman" panose="02020603050405020304" pitchFamily="18" charset="0"/>
                          <a:cs typeface="Times New Roman" panose="02020603050405020304" pitchFamily="18" charset="0"/>
                        </a:rPr>
                        <a:t> to assign unique IDs and QR codes for each animal.</a:t>
                      </a:r>
                    </a:p>
                    <a:p>
                      <a:pPr marL="914400" lvl="1" indent="-457200" algn="just">
                        <a:lnSpc>
                          <a:spcPct val="115000"/>
                        </a:lnSpc>
                        <a:spcAft>
                          <a:spcPts val="0"/>
                        </a:spcAft>
                        <a:buFont typeface="+mj-lt"/>
                        <a:buAutoNum type="arabicPeriod"/>
                      </a:pPr>
                      <a:r>
                        <a:rPr lang="en-US" sz="1900" b="0" kern="0" dirty="0">
                          <a:solidFill>
                            <a:schemeClr val="tx1"/>
                          </a:solidFill>
                          <a:effectLst/>
                          <a:latin typeface="Times New Roman" panose="02020603050405020304" pitchFamily="18" charset="0"/>
                          <a:cs typeface="Times New Roman" panose="02020603050405020304" pitchFamily="18" charset="0"/>
                        </a:rPr>
                        <a:t>Health Record Module</a:t>
                      </a:r>
                      <a:r>
                        <a:rPr lang="en-US" sz="1900" b="0" kern="0" baseline="0" dirty="0">
                          <a:solidFill>
                            <a:schemeClr val="tx1"/>
                          </a:solidFill>
                          <a:effectLst/>
                          <a:latin typeface="Times New Roman" panose="02020603050405020304" pitchFamily="18" charset="0"/>
                          <a:cs typeface="Times New Roman" panose="02020603050405020304" pitchFamily="18" charset="0"/>
                        </a:rPr>
                        <a:t> - </a:t>
                      </a:r>
                      <a:r>
                        <a:rPr lang="en-US" sz="1900" b="0" kern="0" dirty="0">
                          <a:solidFill>
                            <a:schemeClr val="tx1"/>
                          </a:solidFill>
                          <a:effectLst/>
                          <a:latin typeface="Times New Roman" panose="02020603050405020304" pitchFamily="18" charset="0"/>
                          <a:cs typeface="Times New Roman" panose="02020603050405020304" pitchFamily="18" charset="0"/>
                        </a:rPr>
                        <a:t>for managing previous</a:t>
                      </a:r>
                      <a:r>
                        <a:rPr lang="en-US" sz="1900" b="0" kern="0" baseline="0" dirty="0">
                          <a:solidFill>
                            <a:schemeClr val="tx1"/>
                          </a:solidFill>
                          <a:effectLst/>
                          <a:latin typeface="Times New Roman" panose="02020603050405020304" pitchFamily="18" charset="0"/>
                          <a:cs typeface="Times New Roman" panose="02020603050405020304" pitchFamily="18" charset="0"/>
                        </a:rPr>
                        <a:t> medical data, </a:t>
                      </a:r>
                      <a:r>
                        <a:rPr lang="en-US" sz="1900" b="0" kern="0" dirty="0">
                          <a:solidFill>
                            <a:schemeClr val="tx1"/>
                          </a:solidFill>
                          <a:effectLst/>
                          <a:latin typeface="Times New Roman" panose="02020603050405020304" pitchFamily="18" charset="0"/>
                          <a:cs typeface="Times New Roman" panose="02020603050405020304" pitchFamily="18" charset="0"/>
                        </a:rPr>
                        <a:t>vaccination history</a:t>
                      </a:r>
                      <a:r>
                        <a:rPr lang="en-US" sz="1900" b="0" kern="0" baseline="0" dirty="0">
                          <a:solidFill>
                            <a:schemeClr val="tx1"/>
                          </a:solidFill>
                          <a:effectLst/>
                          <a:latin typeface="Times New Roman" panose="02020603050405020304" pitchFamily="18" charset="0"/>
                          <a:cs typeface="Times New Roman" panose="02020603050405020304" pitchFamily="18" charset="0"/>
                        </a:rPr>
                        <a:t> and </a:t>
                      </a:r>
                      <a:r>
                        <a:rPr lang="en-US" sz="1900" b="0" kern="0" dirty="0">
                          <a:solidFill>
                            <a:schemeClr val="tx1"/>
                          </a:solidFill>
                          <a:effectLst/>
                          <a:latin typeface="Times New Roman" panose="02020603050405020304" pitchFamily="18" charset="0"/>
                          <a:cs typeface="Times New Roman" panose="02020603050405020304" pitchFamily="18" charset="0"/>
                        </a:rPr>
                        <a:t>symptoms.</a:t>
                      </a:r>
                    </a:p>
                    <a:p>
                      <a:pPr marL="457200" lvl="1" indent="0" algn="just">
                        <a:lnSpc>
                          <a:spcPct val="115000"/>
                        </a:lnSpc>
                        <a:spcAft>
                          <a:spcPts val="0"/>
                        </a:spcAft>
                        <a:buFont typeface="+mj-lt"/>
                        <a:buNone/>
                      </a:pPr>
                      <a:endParaRPr lang="en-US" sz="1900" b="0" kern="0" dirty="0">
                        <a:solidFill>
                          <a:schemeClr val="tx1"/>
                        </a:solidFill>
                        <a:effectLst/>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b="0" kern="0" dirty="0">
                          <a:solidFill>
                            <a:schemeClr val="tx1"/>
                          </a:solidFill>
                          <a:effectLst/>
                          <a:latin typeface="Times New Roman" panose="02020603050405020304" pitchFamily="18" charset="0"/>
                          <a:cs typeface="Times New Roman" panose="02020603050405020304" pitchFamily="18" charset="0"/>
                        </a:rPr>
                        <a:t>AI and Decision Support Integration</a:t>
                      </a:r>
                      <a:r>
                        <a:rPr lang="en-US" sz="1900" b="0" kern="0" baseline="0" dirty="0">
                          <a:solidFill>
                            <a:schemeClr val="tx1"/>
                          </a:solidFill>
                          <a:effectLst/>
                          <a:latin typeface="Times New Roman" panose="02020603050405020304" pitchFamily="18" charset="0"/>
                          <a:cs typeface="Times New Roman" panose="02020603050405020304" pitchFamily="18" charset="0"/>
                        </a:rPr>
                        <a:t>, I</a:t>
                      </a:r>
                      <a:r>
                        <a:rPr lang="en-US" sz="1900" b="0" kern="0" dirty="0">
                          <a:solidFill>
                            <a:schemeClr val="tx1"/>
                          </a:solidFill>
                          <a:effectLst/>
                          <a:latin typeface="Times New Roman" panose="02020603050405020304" pitchFamily="18" charset="0"/>
                          <a:cs typeface="Times New Roman" panose="02020603050405020304" pitchFamily="18" charset="0"/>
                        </a:rPr>
                        <a:t>mplement rule-based AI algorithms to analyze symptoms, suggest probable diagnoses, and survival</a:t>
                      </a:r>
                      <a:r>
                        <a:rPr lang="en-US" sz="1900" b="0" kern="0" baseline="0" dirty="0">
                          <a:solidFill>
                            <a:schemeClr val="tx1"/>
                          </a:solidFill>
                          <a:effectLst/>
                          <a:latin typeface="Times New Roman" panose="02020603050405020304" pitchFamily="18" charset="0"/>
                          <a:cs typeface="Times New Roman" panose="02020603050405020304" pitchFamily="18" charset="0"/>
                        </a:rPr>
                        <a:t> rate</a:t>
                      </a:r>
                      <a:r>
                        <a:rPr lang="en-US" sz="1900" b="0" kern="0" dirty="0">
                          <a:solidFill>
                            <a:schemeClr val="tx1"/>
                          </a:solidFill>
                          <a:effectLst/>
                          <a:latin typeface="Times New Roman" panose="02020603050405020304" pitchFamily="18" charset="0"/>
                          <a:cs typeface="Times New Roman" panose="02020603050405020304" pitchFamily="18" charset="0"/>
                        </a:rPr>
                        <a:t>.</a:t>
                      </a:r>
                    </a:p>
                    <a:p>
                      <a:pPr marL="342900" indent="-342900" algn="just">
                        <a:lnSpc>
                          <a:spcPct val="115000"/>
                        </a:lnSpc>
                        <a:spcAft>
                          <a:spcPts val="0"/>
                        </a:spcAft>
                        <a:buFont typeface="Wingdings" panose="05000000000000000000" pitchFamily="2" charset="2"/>
                        <a:buChar char="q"/>
                      </a:pPr>
                      <a:endParaRPr lang="en-US" sz="1900" b="0" kern="0" dirty="0">
                        <a:solidFill>
                          <a:schemeClr val="tx1"/>
                        </a:solidFill>
                        <a:effectLst/>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b="0" kern="0" dirty="0">
                          <a:solidFill>
                            <a:schemeClr val="tx1"/>
                          </a:solidFill>
                          <a:effectLst/>
                          <a:latin typeface="Times New Roman" panose="02020603050405020304" pitchFamily="18" charset="0"/>
                          <a:cs typeface="Times New Roman" panose="02020603050405020304" pitchFamily="18" charset="0"/>
                        </a:rPr>
                        <a:t>Generates</a:t>
                      </a:r>
                      <a:r>
                        <a:rPr lang="en-US" sz="1900" b="0" kern="0" baseline="0" dirty="0">
                          <a:solidFill>
                            <a:schemeClr val="tx1"/>
                          </a:solidFill>
                          <a:effectLst/>
                          <a:latin typeface="Times New Roman" panose="02020603050405020304" pitchFamily="18" charset="0"/>
                          <a:cs typeface="Times New Roman" panose="02020603050405020304" pitchFamily="18" charset="0"/>
                        </a:rPr>
                        <a:t> a structured animal health report and allows user to download it instantly as a PDF for printing or sharing.</a:t>
                      </a:r>
                      <a:endParaRPr lang="en-US" sz="1900" b="0" kern="0" dirty="0">
                        <a:solidFill>
                          <a:schemeClr val="tx1"/>
                        </a:solidFill>
                        <a:effectLst/>
                        <a:latin typeface="Times New Roman" panose="02020603050405020304" pitchFamily="18"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56B2F8D7-0469-65D9-ED00-86A85DDA3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770A15E-5F9A-D170-2DDC-4621AB4853E4}"/>
              </a:ext>
            </a:extLst>
          </p:cNvPr>
          <p:cNvSpPr txBox="1"/>
          <p:nvPr/>
        </p:nvSpPr>
        <p:spPr>
          <a:xfrm>
            <a:off x="10844981" y="6578146"/>
            <a:ext cx="1337187" cy="369332"/>
          </a:xfrm>
          <a:prstGeom prst="rect">
            <a:avLst/>
          </a:prstGeom>
          <a:noFill/>
        </p:spPr>
        <p:txBody>
          <a:bodyPr wrap="square" rtlCol="0">
            <a:spAutoFit/>
          </a:bodyPr>
          <a:lstStyle/>
          <a:p>
            <a:r>
              <a:rPr lang="en-US" dirty="0"/>
              <a:t>                      9 </a:t>
            </a:r>
            <a:endParaRPr lang="en-IN" dirty="0"/>
          </a:p>
        </p:txBody>
      </p:sp>
    </p:spTree>
    <p:extLst>
      <p:ext uri="{BB962C8B-B14F-4D97-AF65-F5344CB8AC3E}">
        <p14:creationId xmlns:p14="http://schemas.microsoft.com/office/powerpoint/2010/main" val="3000132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E3433-AD5F-9DFB-29A6-6BE3D8D46F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BBD1CF-3E52-2FAA-1723-A692C9671AE0}"/>
              </a:ext>
            </a:extLst>
          </p:cNvPr>
          <p:cNvSpPr/>
          <p:nvPr/>
        </p:nvSpPr>
        <p:spPr>
          <a:xfrm>
            <a:off x="0" y="0"/>
            <a:ext cx="12192000" cy="5773115"/>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5B4CB356-CEE8-74E7-C48E-8908F44C477B}"/>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PROPOSED METHODOLOGY</a:t>
            </a:r>
          </a:p>
        </p:txBody>
      </p:sp>
      <p:sp>
        <p:nvSpPr>
          <p:cNvPr id="7" name="Rectangle 6">
            <a:extLst>
              <a:ext uri="{FF2B5EF4-FFF2-40B4-BE49-F238E27FC236}">
                <a16:creationId xmlns:a16="http://schemas.microsoft.com/office/drawing/2014/main" id="{1C047F1C-A2E3-469D-68B5-E14AB1A29256}"/>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ARTIFICIAL INTELLIGENCE &amp; MACHINE LEARNING</a:t>
            </a:r>
          </a:p>
        </p:txBody>
      </p:sp>
      <p:pic>
        <p:nvPicPr>
          <p:cNvPr id="1027" name="Picture 2" descr="A logo for a company&#10;&#10;AI-generated content may be incorrect.">
            <a:extLst>
              <a:ext uri="{FF2B5EF4-FFF2-40B4-BE49-F238E27FC236}">
                <a16:creationId xmlns:a16="http://schemas.microsoft.com/office/drawing/2014/main" id="{4F2E8F24-A53E-3DD4-1C9B-C8AA6EDBED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816EE4D7-3F3F-83D0-9B79-A718A347FA91}"/>
              </a:ext>
            </a:extLst>
          </p:cNvPr>
          <p:cNvGraphicFramePr>
            <a:graphicFrameLocks noGrp="1"/>
          </p:cNvGraphicFramePr>
          <p:nvPr>
            <p:extLst>
              <p:ext uri="{D42A27DB-BD31-4B8C-83A1-F6EECF244321}">
                <p14:modId xmlns:p14="http://schemas.microsoft.com/office/powerpoint/2010/main" val="2115408344"/>
              </p:ext>
            </p:extLst>
          </p:nvPr>
        </p:nvGraphicFramePr>
        <p:xfrm>
          <a:off x="0" y="1021902"/>
          <a:ext cx="12191999" cy="4815169"/>
        </p:xfrm>
        <a:graphic>
          <a:graphicData uri="http://schemas.openxmlformats.org/drawingml/2006/table">
            <a:tbl>
              <a:tblPr firstRow="1" firstCol="1" bandRow="1">
                <a:tableStyleId>{5C22544A-7EE6-4342-B048-85BDC9FD1C3A}</a:tableStyleId>
              </a:tblPr>
              <a:tblGrid>
                <a:gridCol w="12191999">
                  <a:extLst>
                    <a:ext uri="{9D8B030D-6E8A-4147-A177-3AD203B41FA5}">
                      <a16:colId xmlns:a16="http://schemas.microsoft.com/office/drawing/2014/main" val="1495461617"/>
                    </a:ext>
                  </a:extLst>
                </a:gridCol>
              </a:tblGrid>
              <a:tr h="4815169">
                <a:tc>
                  <a:txBody>
                    <a:bodyPr/>
                    <a:lstStyle/>
                    <a:p>
                      <a:pPr marL="0" indent="0" algn="just">
                        <a:lnSpc>
                          <a:spcPct val="115000"/>
                        </a:lnSpc>
                        <a:spcAft>
                          <a:spcPts val="0"/>
                        </a:spcAft>
                        <a:buFont typeface="Wingdings" panose="05000000000000000000" pitchFamily="2" charset="2"/>
                        <a:buNone/>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00205B40-49FE-9282-669F-CC131AAA7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EC68B74E-64BD-15A0-3B4C-19C71E88D25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15148" y="957946"/>
            <a:ext cx="5633884" cy="4815169"/>
          </a:xfrm>
          <a:prstGeom prst="rect">
            <a:avLst/>
          </a:prstGeom>
        </p:spPr>
      </p:pic>
      <p:sp>
        <p:nvSpPr>
          <p:cNvPr id="9" name="TextBox 8">
            <a:extLst>
              <a:ext uri="{FF2B5EF4-FFF2-40B4-BE49-F238E27FC236}">
                <a16:creationId xmlns:a16="http://schemas.microsoft.com/office/drawing/2014/main" id="{B9386C5E-5277-0DD3-8067-3C595AE9D7D0}"/>
              </a:ext>
            </a:extLst>
          </p:cNvPr>
          <p:cNvSpPr txBox="1"/>
          <p:nvPr/>
        </p:nvSpPr>
        <p:spPr>
          <a:xfrm>
            <a:off x="4419600" y="5949177"/>
            <a:ext cx="6105832"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1 : Methodology flow</a:t>
            </a:r>
          </a:p>
        </p:txBody>
      </p:sp>
      <p:sp>
        <p:nvSpPr>
          <p:cNvPr id="8" name="TextBox 7">
            <a:extLst>
              <a:ext uri="{FF2B5EF4-FFF2-40B4-BE49-F238E27FC236}">
                <a16:creationId xmlns:a16="http://schemas.microsoft.com/office/drawing/2014/main" id="{D8DA442A-735C-AF74-F016-AF757AE12A19}"/>
              </a:ext>
            </a:extLst>
          </p:cNvPr>
          <p:cNvSpPr txBox="1"/>
          <p:nvPr/>
        </p:nvSpPr>
        <p:spPr>
          <a:xfrm>
            <a:off x="11002297" y="6552241"/>
            <a:ext cx="1189703" cy="369332"/>
          </a:xfrm>
          <a:prstGeom prst="rect">
            <a:avLst/>
          </a:prstGeom>
          <a:noFill/>
        </p:spPr>
        <p:txBody>
          <a:bodyPr wrap="square" rtlCol="0">
            <a:spAutoFit/>
          </a:bodyPr>
          <a:lstStyle/>
          <a:p>
            <a:r>
              <a:rPr lang="en-US" dirty="0"/>
              <a:t>                10</a:t>
            </a:r>
            <a:endParaRPr lang="en-IN" dirty="0"/>
          </a:p>
        </p:txBody>
      </p:sp>
    </p:spTree>
    <p:extLst>
      <p:ext uri="{BB962C8B-B14F-4D97-AF65-F5344CB8AC3E}">
        <p14:creationId xmlns:p14="http://schemas.microsoft.com/office/powerpoint/2010/main" val="157204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E67B7-4FB4-CC9A-F5E5-77EE39EE34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022D69-79C6-2A11-740C-27DEC0C17C38}"/>
              </a:ext>
            </a:extLst>
          </p:cNvPr>
          <p:cNvSpPr/>
          <p:nvPr/>
        </p:nvSpPr>
        <p:spPr>
          <a:xfrm>
            <a:off x="0" y="0"/>
            <a:ext cx="12192000" cy="6578146"/>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5000"/>
              </a:lnSpc>
              <a:spcAft>
                <a:spcPts val="0"/>
              </a:spcAft>
            </a:pPr>
            <a:r>
              <a:rPr lang="en-US" dirty="0"/>
              <a:t>), and health status.- *Decision Support:* Symptom entry, automated AI-based</a:t>
            </a:r>
            <a:endParaRPr lang="en-US" sz="1900" kern="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kern="0" dirty="0">
                <a:solidFill>
                  <a:schemeClr val="tx1"/>
                </a:solidFill>
                <a:latin typeface="Times New Roman" panose="02020603050405020304" pitchFamily="18" charset="0"/>
                <a:cs typeface="Times New Roman" panose="02020603050405020304" pitchFamily="18" charset="0"/>
              </a:rPr>
              <a:t>Authentication and Security: Login system and password management.</a:t>
            </a:r>
          </a:p>
          <a:p>
            <a:pPr marL="342900" indent="-342900" algn="just">
              <a:lnSpc>
                <a:spcPct val="115000"/>
              </a:lnSpc>
              <a:spcAft>
                <a:spcPts val="0"/>
              </a:spcAft>
              <a:buFont typeface="Wingdings" panose="05000000000000000000" pitchFamily="2" charset="2"/>
              <a:buChar char="q"/>
            </a:pPr>
            <a:endParaRPr lang="en-US" sz="1900" kern="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kern="0" dirty="0">
                <a:solidFill>
                  <a:schemeClr val="tx1"/>
                </a:solidFill>
                <a:latin typeface="Times New Roman" panose="02020603050405020304" pitchFamily="18" charset="0"/>
                <a:cs typeface="Times New Roman" panose="02020603050405020304" pitchFamily="18" charset="0"/>
              </a:rPr>
              <a:t>Health Record Module: Tracks animal ID, species, breed, sex, vitals (BP, heart rate), and health status.</a:t>
            </a:r>
          </a:p>
          <a:p>
            <a:pPr algn="just">
              <a:lnSpc>
                <a:spcPct val="115000"/>
              </a:lnSpc>
              <a:spcAft>
                <a:spcPts val="0"/>
              </a:spcAft>
            </a:pPr>
            <a:endParaRPr lang="en-US" sz="1900" kern="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kern="0" dirty="0">
                <a:solidFill>
                  <a:schemeClr val="tx1"/>
                </a:solidFill>
                <a:latin typeface="Times New Roman" panose="02020603050405020304" pitchFamily="18" charset="0"/>
                <a:cs typeface="Times New Roman" panose="02020603050405020304" pitchFamily="18" charset="0"/>
              </a:rPr>
              <a:t>Task Automation: Vaccination data, PDF report generation, QR code scanning for access.</a:t>
            </a:r>
          </a:p>
          <a:p>
            <a:pPr marL="342900" indent="-342900" algn="just">
              <a:lnSpc>
                <a:spcPct val="115000"/>
              </a:lnSpc>
              <a:spcAft>
                <a:spcPts val="0"/>
              </a:spcAft>
              <a:buFont typeface="Wingdings" panose="05000000000000000000" pitchFamily="2" charset="2"/>
              <a:buChar char="q"/>
            </a:pPr>
            <a:endParaRPr lang="en-US" sz="1900" kern="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q"/>
            </a:pPr>
            <a:r>
              <a:rPr lang="en-US" sz="1900" kern="0" dirty="0">
                <a:solidFill>
                  <a:schemeClr val="tx1"/>
                </a:solidFill>
                <a:latin typeface="Times New Roman" panose="02020603050405020304" pitchFamily="18" charset="0"/>
                <a:cs typeface="Times New Roman" panose="02020603050405020304" pitchFamily="18" charset="0"/>
              </a:rPr>
              <a:t>Decision Support(</a:t>
            </a:r>
            <a:r>
              <a:rPr lang="en-US" sz="1900" kern="0" dirty="0" err="1">
                <a:solidFill>
                  <a:schemeClr val="tx1"/>
                </a:solidFill>
                <a:latin typeface="Times New Roman" panose="02020603050405020304" pitchFamily="18" charset="0"/>
                <a:cs typeface="Times New Roman" panose="02020603050405020304" pitchFamily="18" charset="0"/>
              </a:rPr>
              <a:t>Chatbot</a:t>
            </a:r>
            <a:r>
              <a:rPr lang="en-US" sz="1900" kern="0" dirty="0">
                <a:solidFill>
                  <a:schemeClr val="tx1"/>
                </a:solidFill>
                <a:latin typeface="Times New Roman" panose="02020603050405020304" pitchFamily="18" charset="0"/>
                <a:cs typeface="Times New Roman" panose="02020603050405020304" pitchFamily="18" charset="0"/>
              </a:rPr>
              <a:t>): Doctor-friendly interface to guide symptom entry and automated AI-based diagnosis and survival rate</a:t>
            </a:r>
            <a:endParaRPr lang="en-IN" dirty="0"/>
          </a:p>
        </p:txBody>
      </p:sp>
      <p:sp>
        <p:nvSpPr>
          <p:cNvPr id="6" name="Rectangle 5">
            <a:extLst>
              <a:ext uri="{FF2B5EF4-FFF2-40B4-BE49-F238E27FC236}">
                <a16:creationId xmlns:a16="http://schemas.microsoft.com/office/drawing/2014/main" id="{8A61F859-85C3-87C3-4736-9091F8C62F83}"/>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accent2">
                    <a:lumMod val="50000"/>
                  </a:schemeClr>
                </a:solidFill>
                <a:latin typeface="Cambria" panose="02040503050406030204" pitchFamily="18" charset="0"/>
                <a:ea typeface="Cambria" panose="02040503050406030204" pitchFamily="18" charset="0"/>
              </a:rPr>
              <a:t>SYSTEM DESIGN</a:t>
            </a:r>
            <a:endParaRPr lang="en-IN" sz="4400" b="1" dirty="0">
              <a:solidFill>
                <a:schemeClr val="accent2">
                  <a:lumMod val="50000"/>
                </a:schemeClr>
              </a:solidFill>
              <a:latin typeface="Cambria" panose="02040503050406030204" pitchFamily="18" charset="0"/>
              <a:ea typeface="Cambria" panose="02040503050406030204" pitchFamily="18" charset="0"/>
            </a:endParaRPr>
          </a:p>
        </p:txBody>
      </p:sp>
      <p:sp>
        <p:nvSpPr>
          <p:cNvPr id="7" name="Rectangle 6">
            <a:extLst>
              <a:ext uri="{FF2B5EF4-FFF2-40B4-BE49-F238E27FC236}">
                <a16:creationId xmlns:a16="http://schemas.microsoft.com/office/drawing/2014/main" id="{98F71547-864F-45CC-87F5-8FF410240468}"/>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ARTIFICIAL INTELLIGENCE &amp; MACHINE LEARNING</a:t>
            </a:r>
          </a:p>
        </p:txBody>
      </p:sp>
      <p:pic>
        <p:nvPicPr>
          <p:cNvPr id="1027" name="Picture 2" descr="A logo for a company&#10;&#10;AI-generated content may be incorrect.">
            <a:extLst>
              <a:ext uri="{FF2B5EF4-FFF2-40B4-BE49-F238E27FC236}">
                <a16:creationId xmlns:a16="http://schemas.microsoft.com/office/drawing/2014/main" id="{CC976609-9137-F375-9BF3-7776998574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descr="Sai Vidya Institute of Technology - Wikipedia">
            <a:extLst>
              <a:ext uri="{FF2B5EF4-FFF2-40B4-BE49-F238E27FC236}">
                <a16:creationId xmlns:a16="http://schemas.microsoft.com/office/drawing/2014/main" id="{56B2F8D7-0469-65D9-ED00-86A85DDA3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8A76CF3-A42D-FE2A-32D3-D4D360657662}"/>
              </a:ext>
            </a:extLst>
          </p:cNvPr>
          <p:cNvSpPr txBox="1"/>
          <p:nvPr/>
        </p:nvSpPr>
        <p:spPr>
          <a:xfrm>
            <a:off x="10726994" y="6578146"/>
            <a:ext cx="1465006" cy="369332"/>
          </a:xfrm>
          <a:prstGeom prst="rect">
            <a:avLst/>
          </a:prstGeom>
          <a:noFill/>
        </p:spPr>
        <p:txBody>
          <a:bodyPr wrap="square" rtlCol="0">
            <a:spAutoFit/>
          </a:bodyPr>
          <a:lstStyle/>
          <a:p>
            <a:r>
              <a:rPr lang="en-US" dirty="0"/>
              <a:t>                      11</a:t>
            </a:r>
            <a:endParaRPr lang="en-IN" dirty="0"/>
          </a:p>
        </p:txBody>
      </p:sp>
    </p:spTree>
    <p:extLst>
      <p:ext uri="{BB962C8B-B14F-4D97-AF65-F5344CB8AC3E}">
        <p14:creationId xmlns:p14="http://schemas.microsoft.com/office/powerpoint/2010/main" val="3728176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A6D0B-B7AA-36CD-1ED3-7930D225B8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EFC9A8-A4C6-92B8-664F-A58A6EBFB917}"/>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58EB170E-9B0E-A2F8-197E-EF25B3576BD7}"/>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 OUTCOMES</a:t>
            </a:r>
          </a:p>
        </p:txBody>
      </p:sp>
      <p:pic>
        <p:nvPicPr>
          <p:cNvPr id="1027" name="Picture 2" descr="A logo for a company&#10;&#10;AI-generated content may be incorrect.">
            <a:extLst>
              <a:ext uri="{FF2B5EF4-FFF2-40B4-BE49-F238E27FC236}">
                <a16:creationId xmlns:a16="http://schemas.microsoft.com/office/drawing/2014/main" id="{DC7CDCA7-5EDB-3584-BE1C-BD66F2B42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1184AF19-1FAC-70F4-D1A1-F9A15E6611A4}"/>
              </a:ext>
            </a:extLst>
          </p:cNvPr>
          <p:cNvGraphicFramePr>
            <a:graphicFrameLocks noGrp="1"/>
          </p:cNvGraphicFramePr>
          <p:nvPr>
            <p:extLst>
              <p:ext uri="{D42A27DB-BD31-4B8C-83A1-F6EECF244321}">
                <p14:modId xmlns:p14="http://schemas.microsoft.com/office/powerpoint/2010/main" val="4180396914"/>
              </p:ext>
            </p:extLst>
          </p:nvPr>
        </p:nvGraphicFramePr>
        <p:xfrm>
          <a:off x="446314" y="1021902"/>
          <a:ext cx="11266715" cy="5313584"/>
        </p:xfrm>
        <a:graphic>
          <a:graphicData uri="http://schemas.openxmlformats.org/drawingml/2006/table">
            <a:tbl>
              <a:tblPr firstRow="1" firstCol="1" bandRow="1">
                <a:tableStyleId>{5C22544A-7EE6-4342-B048-85BDC9FD1C3A}</a:tableStyleId>
              </a:tblPr>
              <a:tblGrid>
                <a:gridCol w="11266715">
                  <a:extLst>
                    <a:ext uri="{9D8B030D-6E8A-4147-A177-3AD203B41FA5}">
                      <a16:colId xmlns:a16="http://schemas.microsoft.com/office/drawing/2014/main" val="1495461617"/>
                    </a:ext>
                  </a:extLst>
                </a:gridCol>
              </a:tblGrid>
              <a:tr h="5313584">
                <a:tc>
                  <a:txBody>
                    <a:bodyPr/>
                    <a:lstStyle/>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Streamlined workflow for veterinarians and animal owners; reduces administrative burden.</a:t>
                      </a:r>
                    </a:p>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Accurate, AI-driven diagnosis suggestions and alerts, improving early intervention rates. </a:t>
                      </a:r>
                    </a:p>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Enhanced record quality and accessibility—enables evidence-based and data-driven health management.</a:t>
                      </a:r>
                    </a:p>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Quick reporting via automated PDF, easy scanning using QR codes.</a:t>
                      </a:r>
                    </a:p>
                    <a:p>
                      <a:pPr marL="342900" indent="-342900" algn="l">
                        <a:lnSpc>
                          <a:spcPct val="115000"/>
                        </a:lnSpc>
                        <a:spcAft>
                          <a:spcPts val="0"/>
                        </a:spcAft>
                        <a:buFont typeface="Wingdings" panose="05000000000000000000" pitchFamily="2" charset="2"/>
                        <a:buChar char="Ø"/>
                      </a:pPr>
                      <a:endParaRPr lang="en-US"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0" indent="0" algn="l">
                        <a:lnSpc>
                          <a:spcPct val="115000"/>
                        </a:lnSpc>
                        <a:spcAft>
                          <a:spcPts val="0"/>
                        </a:spcAft>
                        <a:buFont typeface="Wingdings" panose="05000000000000000000" pitchFamily="2" charset="2"/>
                        <a:buNone/>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à"/>
                      </a:pPr>
                      <a:endParaRPr lang="en-IN" sz="2000" b="1" kern="0" dirty="0">
                        <a:solidFill>
                          <a:schemeClr val="accent4">
                            <a:lumMod val="50000"/>
                          </a:schemeClr>
                        </a:solidFill>
                        <a:effectLst/>
                        <a:latin typeface="Agency FB" panose="020B0503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E1138148-5798-388C-C5BE-B91A33F27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EA950CF6-FA15-CBB9-8377-23799F598971}"/>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12</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306647BE-58A0-F04C-1904-07E345CF88FC}"/>
              </a:ext>
            </a:extLst>
          </p:cNvPr>
          <p:cNvSpPr txBox="1"/>
          <p:nvPr/>
        </p:nvSpPr>
        <p:spPr>
          <a:xfrm>
            <a:off x="10820400" y="6578146"/>
            <a:ext cx="1366684" cy="369332"/>
          </a:xfrm>
          <a:prstGeom prst="rect">
            <a:avLst/>
          </a:prstGeom>
          <a:noFill/>
        </p:spPr>
        <p:txBody>
          <a:bodyPr wrap="square" rtlCol="0">
            <a:spAutoFit/>
          </a:bodyPr>
          <a:lstStyle/>
          <a:p>
            <a:r>
              <a:rPr lang="en-US" dirty="0"/>
              <a:t>                    12</a:t>
            </a:r>
            <a:endParaRPr lang="en-IN" dirty="0"/>
          </a:p>
        </p:txBody>
      </p:sp>
    </p:spTree>
    <p:extLst>
      <p:ext uri="{BB962C8B-B14F-4D97-AF65-F5344CB8AC3E}">
        <p14:creationId xmlns:p14="http://schemas.microsoft.com/office/powerpoint/2010/main" val="4258357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B36C-86D4-7776-76D5-23BAD7E1F1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87B956-CD9A-E522-E479-0BA6BFEBBD44}"/>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B69A6B35-95C6-A69A-0CD9-D62B9816A5DF}"/>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CONCLUSION</a:t>
            </a:r>
          </a:p>
        </p:txBody>
      </p:sp>
      <p:pic>
        <p:nvPicPr>
          <p:cNvPr id="1027" name="Picture 2" descr="A logo for a company&#10;&#10;AI-generated content may be incorrect.">
            <a:extLst>
              <a:ext uri="{FF2B5EF4-FFF2-40B4-BE49-F238E27FC236}">
                <a16:creationId xmlns:a16="http://schemas.microsoft.com/office/drawing/2014/main" id="{82311498-F5D0-3A41-1FDA-72AE573336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524DEE9E-F6E5-C52B-D0CD-5BC935F79F21}"/>
              </a:ext>
            </a:extLst>
          </p:cNvPr>
          <p:cNvGraphicFramePr>
            <a:graphicFrameLocks noGrp="1"/>
          </p:cNvGraphicFramePr>
          <p:nvPr>
            <p:extLst>
              <p:ext uri="{D42A27DB-BD31-4B8C-83A1-F6EECF244321}">
                <p14:modId xmlns:p14="http://schemas.microsoft.com/office/powerpoint/2010/main" val="402372326"/>
              </p:ext>
            </p:extLst>
          </p:nvPr>
        </p:nvGraphicFramePr>
        <p:xfrm>
          <a:off x="446314" y="1021902"/>
          <a:ext cx="11266715" cy="5313584"/>
        </p:xfrm>
        <a:graphic>
          <a:graphicData uri="http://schemas.openxmlformats.org/drawingml/2006/table">
            <a:tbl>
              <a:tblPr firstRow="1" firstCol="1" bandRow="1">
                <a:tableStyleId>{5C22544A-7EE6-4342-B048-85BDC9FD1C3A}</a:tableStyleId>
              </a:tblPr>
              <a:tblGrid>
                <a:gridCol w="11266715">
                  <a:extLst>
                    <a:ext uri="{9D8B030D-6E8A-4147-A177-3AD203B41FA5}">
                      <a16:colId xmlns:a16="http://schemas.microsoft.com/office/drawing/2014/main" val="1495461617"/>
                    </a:ext>
                  </a:extLst>
                </a:gridCol>
              </a:tblGrid>
              <a:tr h="5313584">
                <a:tc>
                  <a:txBody>
                    <a:bodyPr/>
                    <a:lstStyle/>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The AI-driven decision support system significantly advances veterinary management by unifying records, analysis, and recommendations in one platform</a:t>
                      </a:r>
                    </a:p>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Addresses critical research and operational gaps, supporting more proactive, precise, and efficient animal healthcare.</a:t>
                      </a:r>
                    </a:p>
                    <a:p>
                      <a:pPr marL="342900" indent="-342900" algn="l">
                        <a:lnSpc>
                          <a:spcPct val="115000"/>
                        </a:lnSpc>
                        <a:spcAft>
                          <a:spcPts val="0"/>
                        </a:spcAft>
                        <a:buFont typeface="Wingdings" panose="05000000000000000000" pitchFamily="2" charset="2"/>
                        <a:buChar char="Ø"/>
                      </a:pPr>
                      <a:endPar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Ø"/>
                      </a:pPr>
                      <a:r>
                        <a:rPr lang="en-US"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 Paves the way for smarter, scalable, and personalized veterinary services especially useful in rural and resource-constrained settings.</a:t>
                      </a:r>
                      <a:endParaRPr lang="en-IN"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E5E4AFBA-F1E9-DB27-1DC0-7C6DFBBC7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99B408FC-ACE5-58E1-E8A6-C37420838C2F}"/>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13</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4A7B0A86-92F0-9AE9-73A7-170EF393A7C5}"/>
              </a:ext>
            </a:extLst>
          </p:cNvPr>
          <p:cNvSpPr txBox="1"/>
          <p:nvPr/>
        </p:nvSpPr>
        <p:spPr>
          <a:xfrm>
            <a:off x="10913806" y="6578146"/>
            <a:ext cx="1278194" cy="369332"/>
          </a:xfrm>
          <a:prstGeom prst="rect">
            <a:avLst/>
          </a:prstGeom>
          <a:noFill/>
        </p:spPr>
        <p:txBody>
          <a:bodyPr wrap="square" rtlCol="0">
            <a:spAutoFit/>
          </a:bodyPr>
          <a:lstStyle/>
          <a:p>
            <a:r>
              <a:rPr lang="en-US" dirty="0"/>
              <a:t>                  13</a:t>
            </a:r>
            <a:endParaRPr lang="en-IN" dirty="0"/>
          </a:p>
        </p:txBody>
      </p:sp>
    </p:spTree>
    <p:extLst>
      <p:ext uri="{BB962C8B-B14F-4D97-AF65-F5344CB8AC3E}">
        <p14:creationId xmlns:p14="http://schemas.microsoft.com/office/powerpoint/2010/main" val="2364373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B36C-86D4-7776-76D5-23BAD7E1F1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87B956-CD9A-E522-E479-0BA6BFEBBD44}"/>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B69A6B35-95C6-A69A-0CD9-D62B9816A5DF}"/>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accent2">
                    <a:lumMod val="50000"/>
                  </a:schemeClr>
                </a:solidFill>
                <a:latin typeface="Cambria" panose="02040503050406030204" pitchFamily="18" charset="0"/>
                <a:ea typeface="Cambria" panose="02040503050406030204" pitchFamily="18" charset="0"/>
              </a:rPr>
              <a:t>PAPER / PATENT DETAILS</a:t>
            </a:r>
            <a:endParaRPr lang="en-IN" sz="4400" b="1" dirty="0">
              <a:solidFill>
                <a:schemeClr val="accent2">
                  <a:lumMod val="50000"/>
                </a:schemeClr>
              </a:solidFill>
              <a:latin typeface="Cambria" panose="02040503050406030204" pitchFamily="18" charset="0"/>
              <a:ea typeface="Cambria" panose="02040503050406030204" pitchFamily="18" charset="0"/>
            </a:endParaRPr>
          </a:p>
        </p:txBody>
      </p:sp>
      <p:pic>
        <p:nvPicPr>
          <p:cNvPr id="1027" name="Picture 2" descr="A logo for a company&#10;&#10;AI-generated content may be incorrect.">
            <a:extLst>
              <a:ext uri="{FF2B5EF4-FFF2-40B4-BE49-F238E27FC236}">
                <a16:creationId xmlns:a16="http://schemas.microsoft.com/office/drawing/2014/main" id="{82311498-F5D0-3A41-1FDA-72AE573336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descr="Sai Vidya Institute of Technology - Wikipedia">
            <a:extLst>
              <a:ext uri="{FF2B5EF4-FFF2-40B4-BE49-F238E27FC236}">
                <a16:creationId xmlns:a16="http://schemas.microsoft.com/office/drawing/2014/main" id="{E5E4AFBA-F1E9-DB27-1DC0-7C6DFBBC7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99B408FC-ACE5-58E1-E8A6-C37420838C2F}"/>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14</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F69D9568-639B-EEBF-E8A7-D81DC97D2C7B}"/>
              </a:ext>
            </a:extLst>
          </p:cNvPr>
          <p:cNvSpPr txBox="1"/>
          <p:nvPr/>
        </p:nvSpPr>
        <p:spPr>
          <a:xfrm>
            <a:off x="11031794" y="6578146"/>
            <a:ext cx="1229032" cy="369332"/>
          </a:xfrm>
          <a:prstGeom prst="rect">
            <a:avLst/>
          </a:prstGeom>
          <a:noFill/>
        </p:spPr>
        <p:txBody>
          <a:bodyPr wrap="square" rtlCol="0">
            <a:spAutoFit/>
          </a:bodyPr>
          <a:lstStyle/>
          <a:p>
            <a:r>
              <a:rPr lang="en-US" dirty="0"/>
              <a:t>                14</a:t>
            </a:r>
            <a:endParaRPr lang="en-IN" dirty="0"/>
          </a:p>
        </p:txBody>
      </p:sp>
      <p:sp>
        <p:nvSpPr>
          <p:cNvPr id="8" name="TextBox 7">
            <a:extLst>
              <a:ext uri="{FF2B5EF4-FFF2-40B4-BE49-F238E27FC236}">
                <a16:creationId xmlns:a16="http://schemas.microsoft.com/office/drawing/2014/main" id="{E28E8D91-5304-507C-561E-C64B2AFC7D4E}"/>
              </a:ext>
            </a:extLst>
          </p:cNvPr>
          <p:cNvSpPr txBox="1"/>
          <p:nvPr/>
        </p:nvSpPr>
        <p:spPr>
          <a:xfrm>
            <a:off x="825910" y="1369293"/>
            <a:ext cx="10540180" cy="252376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project has resulted in a draft patent application that is currently under the process of preparation and approval. The patent details have been discussed and reviewed with our project guide, and the application is being finalized for official submission to the Patent Office.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40420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B36C-86D4-7776-76D5-23BAD7E1F1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87B956-CD9A-E522-E479-0BA6BFEBBD44}"/>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B69A6B35-95C6-A69A-0CD9-D62B9816A5DF}"/>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REFERENCES</a:t>
            </a:r>
          </a:p>
        </p:txBody>
      </p:sp>
      <p:pic>
        <p:nvPicPr>
          <p:cNvPr id="1027" name="Picture 2" descr="A logo for a company&#10;&#10;AI-generated content may be incorrect.">
            <a:extLst>
              <a:ext uri="{FF2B5EF4-FFF2-40B4-BE49-F238E27FC236}">
                <a16:creationId xmlns:a16="http://schemas.microsoft.com/office/drawing/2014/main" id="{82311498-F5D0-3A41-1FDA-72AE573336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524DEE9E-F6E5-C52B-D0CD-5BC935F79F21}"/>
              </a:ext>
            </a:extLst>
          </p:cNvPr>
          <p:cNvGraphicFramePr>
            <a:graphicFrameLocks noGrp="1"/>
          </p:cNvGraphicFramePr>
          <p:nvPr>
            <p:extLst>
              <p:ext uri="{D42A27DB-BD31-4B8C-83A1-F6EECF244321}">
                <p14:modId xmlns:p14="http://schemas.microsoft.com/office/powerpoint/2010/main" val="3298487930"/>
              </p:ext>
            </p:extLst>
          </p:nvPr>
        </p:nvGraphicFramePr>
        <p:xfrm>
          <a:off x="441960" y="1021902"/>
          <a:ext cx="11271069" cy="5847398"/>
        </p:xfrm>
        <a:graphic>
          <a:graphicData uri="http://schemas.openxmlformats.org/drawingml/2006/table">
            <a:tbl>
              <a:tblPr firstRow="1" firstCol="1" bandRow="1">
                <a:tableStyleId>{5C22544A-7EE6-4342-B048-85BDC9FD1C3A}</a:tableStyleId>
              </a:tblPr>
              <a:tblGrid>
                <a:gridCol w="11271069">
                  <a:extLst>
                    <a:ext uri="{9D8B030D-6E8A-4147-A177-3AD203B41FA5}">
                      <a16:colId xmlns:a16="http://schemas.microsoft.com/office/drawing/2014/main" val="1495461617"/>
                    </a:ext>
                  </a:extLst>
                </a:gridCol>
              </a:tblGrid>
              <a:tr h="5241738">
                <a:tc>
                  <a:txBody>
                    <a:bodyPr/>
                    <a:lstStyle/>
                    <a:p>
                      <a:pPr algn="just"/>
                      <a:r>
                        <a:rPr lang="en-IN" sz="2000" b="0" dirty="0">
                          <a:solidFill>
                            <a:schemeClr val="tx1"/>
                          </a:solidFill>
                          <a:latin typeface="Times New Roman" panose="02020603050405020304" pitchFamily="18" charset="0"/>
                          <a:cs typeface="Times New Roman" panose="02020603050405020304" pitchFamily="18" charset="0"/>
                        </a:rPr>
                        <a:t>[1] Prashanna J and Dr. Vanita Jaitly, “AI-Powered Veterinary Chatbot for Automated Diagnosis,” </a:t>
                      </a:r>
                      <a:r>
                        <a:rPr lang="en-IN" sz="2000" b="0" i="1" dirty="0">
                          <a:solidFill>
                            <a:schemeClr val="tx1"/>
                          </a:solidFill>
                          <a:latin typeface="Times New Roman" panose="02020603050405020304" pitchFamily="18" charset="0"/>
                          <a:cs typeface="Times New Roman" panose="02020603050405020304" pitchFamily="18" charset="0"/>
                        </a:rPr>
                        <a:t>Proceedings of the International Conference on Inventive Computation Technologies (ICICT)</a:t>
                      </a:r>
                      <a:r>
                        <a:rPr lang="en-IN" sz="2000" b="0" dirty="0">
                          <a:solidFill>
                            <a:schemeClr val="tx1"/>
                          </a:solidFill>
                          <a:latin typeface="Times New Roman" panose="02020603050405020304" pitchFamily="18" charset="0"/>
                          <a:cs typeface="Times New Roman" panose="02020603050405020304" pitchFamily="18" charset="0"/>
                        </a:rPr>
                        <a:t>, pp. 1629–1635, Jan. 2025.</a:t>
                      </a:r>
                    </a:p>
                    <a:p>
                      <a:pPr algn="just"/>
                      <a:endParaRPr lang="en-IN" sz="2000" b="0" dirty="0">
                        <a:solidFill>
                          <a:schemeClr val="tx1"/>
                        </a:solidFill>
                        <a:latin typeface="Times New Roman" panose="02020603050405020304" pitchFamily="18" charset="0"/>
                        <a:cs typeface="Times New Roman" panose="02020603050405020304" pitchFamily="18" charset="0"/>
                      </a:endParaRPr>
                    </a:p>
                    <a:p>
                      <a:pPr algn="just"/>
                      <a:r>
                        <a:rPr lang="en-IN" sz="2000" b="0" dirty="0">
                          <a:solidFill>
                            <a:schemeClr val="tx1"/>
                          </a:solidFill>
                          <a:latin typeface="Times New Roman" panose="02020603050405020304" pitchFamily="18" charset="0"/>
                          <a:cs typeface="Times New Roman" panose="02020603050405020304" pitchFamily="18" charset="0"/>
                        </a:rPr>
                        <a:t>[2]</a:t>
                      </a:r>
                      <a:r>
                        <a:rPr lang="en-IN" sz="2000" b="0" baseline="0" dirty="0">
                          <a:solidFill>
                            <a:schemeClr val="tx1"/>
                          </a:solidFill>
                          <a:latin typeface="Times New Roman" panose="02020603050405020304" pitchFamily="18" charset="0"/>
                          <a:cs typeface="Times New Roman" panose="02020603050405020304" pitchFamily="18" charset="0"/>
                        </a:rPr>
                        <a:t> </a:t>
                      </a:r>
                      <a:r>
                        <a:rPr lang="en-IN" sz="2000" b="0" dirty="0">
                          <a:solidFill>
                            <a:schemeClr val="tx1"/>
                          </a:solidFill>
                          <a:latin typeface="Times New Roman" panose="02020603050405020304" pitchFamily="18" charset="0"/>
                          <a:cs typeface="Times New Roman" panose="02020603050405020304" pitchFamily="18" charset="0"/>
                        </a:rPr>
                        <a:t>Y.-G. Jin, G. Wu, J.-W. Seo, S.-J. Park, S.-H. Hur, D. Aliyeva, J.-H. Park, and K.-M. Kim, “AI Veterinary Assistance: Enhancing Clinical Decision-Making in Animal Healthcare,” </a:t>
                      </a:r>
                      <a:r>
                        <a:rPr lang="en-IN" sz="2000" b="0" i="1" dirty="0">
                          <a:solidFill>
                            <a:schemeClr val="tx1"/>
                          </a:solidFill>
                          <a:latin typeface="Times New Roman" panose="02020603050405020304" pitchFamily="18" charset="0"/>
                          <a:cs typeface="Times New Roman" panose="02020603050405020304" pitchFamily="18" charset="0"/>
                        </a:rPr>
                        <a:t>IEEE Access</a:t>
                      </a:r>
                      <a:r>
                        <a:rPr lang="en-IN" sz="2000" b="0" dirty="0">
                          <a:solidFill>
                            <a:schemeClr val="tx1"/>
                          </a:solidFill>
                          <a:latin typeface="Times New Roman" panose="02020603050405020304" pitchFamily="18" charset="0"/>
                          <a:cs typeface="Times New Roman" panose="02020603050405020304" pitchFamily="18" charset="0"/>
                        </a:rPr>
                        <a:t>, vol. 13, pp. 119292–119299, July 2025.</a:t>
                      </a:r>
                    </a:p>
                    <a:p>
                      <a:pPr algn="just"/>
                      <a:endParaRPr lang="en-IN" sz="2000" b="0" dirty="0">
                        <a:solidFill>
                          <a:schemeClr val="tx1"/>
                        </a:solidFill>
                        <a:latin typeface="Times New Roman" panose="02020603050405020304" pitchFamily="18" charset="0"/>
                        <a:cs typeface="Times New Roman" panose="02020603050405020304" pitchFamily="18" charset="0"/>
                      </a:endParaRPr>
                    </a:p>
                    <a:p>
                      <a:pPr algn="just"/>
                      <a:r>
                        <a:rPr lang="en-IN" sz="2000" b="0" dirty="0">
                          <a:solidFill>
                            <a:schemeClr val="tx1"/>
                          </a:solidFill>
                          <a:latin typeface="Times New Roman" panose="02020603050405020304" pitchFamily="18" charset="0"/>
                          <a:cs typeface="Times New Roman" panose="02020603050405020304" pitchFamily="18" charset="0"/>
                        </a:rPr>
                        <a:t>[3] A. N. Manikanta, A. F. Baba, D. S. Vyshnavi, D. K. Paul, and S. S. Sreedhar, “Cloud IoT Based Surveillance System for Tracking and Monitoring of Domestic Animals,” </a:t>
                      </a:r>
                      <a:r>
                        <a:rPr lang="en-IN" sz="2000" b="0" i="1" dirty="0">
                          <a:solidFill>
                            <a:schemeClr val="tx1"/>
                          </a:solidFill>
                          <a:latin typeface="Times New Roman" panose="02020603050405020304" pitchFamily="18" charset="0"/>
                          <a:cs typeface="Times New Roman" panose="02020603050405020304" pitchFamily="18" charset="0"/>
                        </a:rPr>
                        <a:t>International Conference on Integrated Circuits and Communication Systems (ICICACS)</a:t>
                      </a:r>
                      <a:r>
                        <a:rPr lang="en-IN" sz="2000" b="0" dirty="0">
                          <a:solidFill>
                            <a:schemeClr val="tx1"/>
                          </a:solidFill>
                          <a:latin typeface="Times New Roman" panose="02020603050405020304" pitchFamily="18" charset="0"/>
                          <a:cs typeface="Times New Roman" panose="02020603050405020304" pitchFamily="18" charset="0"/>
                        </a:rPr>
                        <a:t>, pp. 1–6, December 2024.</a:t>
                      </a:r>
                    </a:p>
                    <a:p>
                      <a:pPr algn="just"/>
                      <a:endParaRPr lang="en-IN" sz="2000" b="0" dirty="0">
                        <a:solidFill>
                          <a:schemeClr val="tx1"/>
                        </a:solidFill>
                        <a:latin typeface="Times New Roman" panose="02020603050405020304" pitchFamily="18" charset="0"/>
                        <a:cs typeface="Times New Roman" panose="02020603050405020304" pitchFamily="18" charset="0"/>
                      </a:endParaRPr>
                    </a:p>
                    <a:p>
                      <a:pPr algn="just"/>
                      <a:endParaRPr lang="en-IN" sz="2000" b="0" dirty="0">
                        <a:solidFill>
                          <a:schemeClr val="tx1"/>
                        </a:solidFill>
                        <a:latin typeface="Times New Roman" panose="02020603050405020304" pitchFamily="18" charset="0"/>
                        <a:cs typeface="Times New Roman" panose="02020603050405020304" pitchFamily="18" charset="0"/>
                      </a:endParaRPr>
                    </a:p>
                    <a:p>
                      <a:pPr algn="just"/>
                      <a:r>
                        <a:rPr lang="en-IN" sz="2000" b="0" dirty="0">
                          <a:solidFill>
                            <a:schemeClr val="tx1"/>
                          </a:solidFill>
                          <a:latin typeface="Times New Roman" panose="02020603050405020304" pitchFamily="18" charset="0"/>
                          <a:cs typeface="Times New Roman" panose="02020603050405020304" pitchFamily="18" charset="0"/>
                        </a:rPr>
                        <a:t>[4] Dr. Deepika Soni, Dr. </a:t>
                      </a:r>
                      <a:r>
                        <a:rPr lang="en-IN" sz="2000" b="0" dirty="0" err="1">
                          <a:solidFill>
                            <a:schemeClr val="tx1"/>
                          </a:solidFill>
                          <a:latin typeface="Times New Roman" panose="02020603050405020304" pitchFamily="18" charset="0"/>
                          <a:cs typeface="Times New Roman" panose="02020603050405020304" pitchFamily="18" charset="0"/>
                        </a:rPr>
                        <a:t>Awanit</a:t>
                      </a:r>
                      <a:r>
                        <a:rPr lang="en-IN" sz="2000" b="0" dirty="0">
                          <a:solidFill>
                            <a:schemeClr val="tx1"/>
                          </a:solidFill>
                          <a:latin typeface="Times New Roman" panose="02020603050405020304" pitchFamily="18" charset="0"/>
                          <a:cs typeface="Times New Roman" panose="02020603050405020304" pitchFamily="18" charset="0"/>
                        </a:rPr>
                        <a:t> Kumar, Dr. Vikas Somani, and Dr. </a:t>
                      </a:r>
                      <a:r>
                        <a:rPr lang="en-IN" sz="2000" b="0" dirty="0" err="1">
                          <a:solidFill>
                            <a:schemeClr val="tx1"/>
                          </a:solidFill>
                          <a:latin typeface="Times New Roman" panose="02020603050405020304" pitchFamily="18" charset="0"/>
                          <a:cs typeface="Times New Roman" panose="02020603050405020304" pitchFamily="18" charset="0"/>
                        </a:rPr>
                        <a:t>Sheshang</a:t>
                      </a:r>
                      <a:r>
                        <a:rPr lang="en-IN" sz="2000" b="0" dirty="0">
                          <a:solidFill>
                            <a:schemeClr val="tx1"/>
                          </a:solidFill>
                          <a:latin typeface="Times New Roman" panose="02020603050405020304" pitchFamily="18" charset="0"/>
                          <a:cs typeface="Times New Roman" panose="02020603050405020304" pitchFamily="18" charset="0"/>
                        </a:rPr>
                        <a:t> </a:t>
                      </a:r>
                      <a:r>
                        <a:rPr lang="en-IN" sz="2000" b="0" dirty="0" err="1">
                          <a:solidFill>
                            <a:schemeClr val="tx1"/>
                          </a:solidFill>
                          <a:latin typeface="Times New Roman" panose="02020603050405020304" pitchFamily="18" charset="0"/>
                          <a:cs typeface="Times New Roman" panose="02020603050405020304" pitchFamily="18" charset="0"/>
                        </a:rPr>
                        <a:t>Degadwala</a:t>
                      </a:r>
                      <a:r>
                        <a:rPr lang="en-IN" sz="2000" b="0" dirty="0">
                          <a:solidFill>
                            <a:schemeClr val="tx1"/>
                          </a:solidFill>
                          <a:latin typeface="Times New Roman" panose="02020603050405020304" pitchFamily="18" charset="0"/>
                          <a:cs typeface="Times New Roman" panose="02020603050405020304" pitchFamily="18" charset="0"/>
                        </a:rPr>
                        <a:t>, “Veterinary Medical Records Application using AWS,” </a:t>
                      </a:r>
                      <a:r>
                        <a:rPr lang="en-IN" sz="2000" b="0" i="1" dirty="0">
                          <a:solidFill>
                            <a:schemeClr val="tx1"/>
                          </a:solidFill>
                          <a:latin typeface="Times New Roman" panose="02020603050405020304" pitchFamily="18" charset="0"/>
                          <a:cs typeface="Times New Roman" panose="02020603050405020304" pitchFamily="18" charset="0"/>
                        </a:rPr>
                        <a:t>5th International Conference on Mobile Computing and Sustainable Informatics (ICMCSI)</a:t>
                      </a:r>
                      <a:r>
                        <a:rPr lang="en-IN" sz="2000" b="0" dirty="0">
                          <a:solidFill>
                            <a:schemeClr val="tx1"/>
                          </a:solidFill>
                          <a:latin typeface="Times New Roman" panose="02020603050405020304" pitchFamily="18" charset="0"/>
                          <a:cs typeface="Times New Roman" panose="02020603050405020304" pitchFamily="18" charset="0"/>
                        </a:rPr>
                        <a:t>, pp. 578–583, Feb. 2024.</a:t>
                      </a:r>
                    </a:p>
                    <a:p>
                      <a:pPr algn="just"/>
                      <a:endParaRPr lang="en-IN" sz="2000" b="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15000"/>
                        </a:lnSpc>
                        <a:spcAft>
                          <a:spcPts val="0"/>
                        </a:spcAft>
                        <a:buFont typeface="Wingdings" panose="05000000000000000000" pitchFamily="2" charset="2"/>
                        <a:buChar char="Ø"/>
                      </a:pP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à"/>
                      </a:pPr>
                      <a:endParaRPr lang="en-IN" sz="2000" b="1" kern="0" dirty="0">
                        <a:solidFill>
                          <a:schemeClr val="accent4">
                            <a:lumMod val="50000"/>
                          </a:schemeClr>
                        </a:solidFill>
                        <a:effectLst/>
                        <a:latin typeface="Agency FB" panose="020B0503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E5E4AFBA-F1E9-DB27-1DC0-7C6DFBBC7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99B408FC-ACE5-58E1-E8A6-C37420838C2F}"/>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15</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1B024358-67B4-9510-6C92-BEABA2DF840D}"/>
              </a:ext>
            </a:extLst>
          </p:cNvPr>
          <p:cNvSpPr txBox="1"/>
          <p:nvPr/>
        </p:nvSpPr>
        <p:spPr>
          <a:xfrm>
            <a:off x="11181359" y="6542419"/>
            <a:ext cx="1010641" cy="369332"/>
          </a:xfrm>
          <a:prstGeom prst="rect">
            <a:avLst/>
          </a:prstGeom>
          <a:noFill/>
        </p:spPr>
        <p:txBody>
          <a:bodyPr wrap="square" rtlCol="0">
            <a:spAutoFit/>
          </a:bodyPr>
          <a:lstStyle/>
          <a:p>
            <a:r>
              <a:rPr lang="en-US" dirty="0"/>
              <a:t>            15</a:t>
            </a:r>
            <a:endParaRPr lang="en-IN" dirty="0"/>
          </a:p>
        </p:txBody>
      </p:sp>
    </p:spTree>
    <p:extLst>
      <p:ext uri="{BB962C8B-B14F-4D97-AF65-F5344CB8AC3E}">
        <p14:creationId xmlns:p14="http://schemas.microsoft.com/office/powerpoint/2010/main" val="841311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69A2B-77D2-BF41-119E-487A8C9A41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23A7375-A441-6160-BB7D-614946FCE462}"/>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EAA2638E-D5AF-B0D7-EB2F-93DA79748418}"/>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accent2">
                    <a:lumMod val="50000"/>
                  </a:schemeClr>
                </a:solidFill>
                <a:latin typeface="Cambria" panose="02040503050406030204" pitchFamily="18" charset="0"/>
                <a:ea typeface="Cambria" panose="02040503050406030204" pitchFamily="18" charset="0"/>
              </a:rPr>
              <a:t>REFERENCES</a:t>
            </a:r>
          </a:p>
        </p:txBody>
      </p:sp>
      <p:pic>
        <p:nvPicPr>
          <p:cNvPr id="1027" name="Picture 2" descr="A logo for a company&#10;&#10;AI-generated content may be incorrect.">
            <a:extLst>
              <a:ext uri="{FF2B5EF4-FFF2-40B4-BE49-F238E27FC236}">
                <a16:creationId xmlns:a16="http://schemas.microsoft.com/office/drawing/2014/main" id="{19B1A846-AC12-D7B6-1AB4-4373E108B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a:extLst>
              <a:ext uri="{FF2B5EF4-FFF2-40B4-BE49-F238E27FC236}">
                <a16:creationId xmlns:a16="http://schemas.microsoft.com/office/drawing/2014/main" id="{B5A92C2A-2EDA-C181-81C6-88AFBE965D97}"/>
              </a:ext>
            </a:extLst>
          </p:cNvPr>
          <p:cNvGraphicFramePr>
            <a:graphicFrameLocks noGrp="1"/>
          </p:cNvGraphicFramePr>
          <p:nvPr>
            <p:extLst>
              <p:ext uri="{D42A27DB-BD31-4B8C-83A1-F6EECF244321}">
                <p14:modId xmlns:p14="http://schemas.microsoft.com/office/powerpoint/2010/main" val="2033501596"/>
              </p:ext>
            </p:extLst>
          </p:nvPr>
        </p:nvGraphicFramePr>
        <p:xfrm>
          <a:off x="441960" y="1021902"/>
          <a:ext cx="11271069" cy="5241738"/>
        </p:xfrm>
        <a:graphic>
          <a:graphicData uri="http://schemas.openxmlformats.org/drawingml/2006/table">
            <a:tbl>
              <a:tblPr firstRow="1" firstCol="1" bandRow="1">
                <a:tableStyleId>{5C22544A-7EE6-4342-B048-85BDC9FD1C3A}</a:tableStyleId>
              </a:tblPr>
              <a:tblGrid>
                <a:gridCol w="11271069">
                  <a:extLst>
                    <a:ext uri="{9D8B030D-6E8A-4147-A177-3AD203B41FA5}">
                      <a16:colId xmlns:a16="http://schemas.microsoft.com/office/drawing/2014/main" val="1495461617"/>
                    </a:ext>
                  </a:extLst>
                </a:gridCol>
              </a:tblGrid>
              <a:tr h="5241738">
                <a:tc>
                  <a:txBody>
                    <a:bodyPr/>
                    <a:lstStyle/>
                    <a:p>
                      <a:pPr algn="just"/>
                      <a:r>
                        <a:rPr lang="en-IN" sz="2000" b="0" dirty="0">
                          <a:solidFill>
                            <a:schemeClr val="tx1"/>
                          </a:solidFill>
                          <a:latin typeface="Times New Roman" panose="02020603050405020304" pitchFamily="18" charset="0"/>
                          <a:cs typeface="Times New Roman" panose="02020603050405020304" pitchFamily="18" charset="0"/>
                        </a:rPr>
                        <a:t>[5] Samuel S. Chua, Jolina A. Alis, and Mary Joelyn Oria, “Web-Based Veterinary Clinic with e-Mail and SMS Notification,” </a:t>
                      </a:r>
                      <a:r>
                        <a:rPr lang="en-IN" sz="2000" b="0" i="1" dirty="0">
                          <a:solidFill>
                            <a:schemeClr val="tx1"/>
                          </a:solidFill>
                          <a:latin typeface="Times New Roman" panose="02020603050405020304" pitchFamily="18" charset="0"/>
                          <a:cs typeface="Times New Roman" panose="02020603050405020304" pitchFamily="18" charset="0"/>
                        </a:rPr>
                        <a:t>9th International Conference on Business and Industrial Research (ICBIR)</a:t>
                      </a:r>
                      <a:r>
                        <a:rPr lang="en-IN" sz="2000" b="0" dirty="0">
                          <a:solidFill>
                            <a:schemeClr val="tx1"/>
                          </a:solidFill>
                          <a:latin typeface="Times New Roman" panose="02020603050405020304" pitchFamily="18" charset="0"/>
                          <a:cs typeface="Times New Roman" panose="02020603050405020304" pitchFamily="18" charset="0"/>
                        </a:rPr>
                        <a:t>, pp. 1160–1165, May 2024.</a:t>
                      </a:r>
                    </a:p>
                    <a:p>
                      <a:pPr marL="0" indent="0" algn="just">
                        <a:lnSpc>
                          <a:spcPct val="115000"/>
                        </a:lnSpc>
                        <a:spcAft>
                          <a:spcPts val="0"/>
                        </a:spcAft>
                        <a:buFont typeface="Wingdings" panose="05000000000000000000" pitchFamily="2" charset="2"/>
                        <a:buNone/>
                      </a:pPr>
                      <a:endParaRPr lang="en-IN" sz="2000" b="0" kern="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a:p>
                      <a:pPr algn="just"/>
                      <a:r>
                        <a:rPr lang="en-IN" sz="2000" b="0" dirty="0">
                          <a:solidFill>
                            <a:schemeClr val="tx1"/>
                          </a:solidFill>
                          <a:latin typeface="Times New Roman" panose="02020603050405020304" pitchFamily="18" charset="0"/>
                          <a:cs typeface="Times New Roman" panose="02020603050405020304" pitchFamily="18" charset="0"/>
                        </a:rPr>
                        <a:t>[6] M. Madheswaran, S. </a:t>
                      </a:r>
                      <a:r>
                        <a:rPr lang="en-IN" sz="2000" b="0" dirty="0" err="1">
                          <a:solidFill>
                            <a:schemeClr val="tx1"/>
                          </a:solidFill>
                          <a:latin typeface="Times New Roman" panose="02020603050405020304" pitchFamily="18" charset="0"/>
                          <a:cs typeface="Times New Roman" panose="02020603050405020304" pitchFamily="18" charset="0"/>
                        </a:rPr>
                        <a:t>Aghalya</a:t>
                      </a:r>
                      <a:r>
                        <a:rPr lang="en-IN" sz="2000" b="0" dirty="0">
                          <a:solidFill>
                            <a:schemeClr val="tx1"/>
                          </a:solidFill>
                          <a:latin typeface="Times New Roman" panose="02020603050405020304" pitchFamily="18" charset="0"/>
                          <a:cs typeface="Times New Roman" panose="02020603050405020304" pitchFamily="18" charset="0"/>
                        </a:rPr>
                        <a:t>, R. Dhanalakshmi, S. Raju, G. Ramasubramanian, and P. </a:t>
                      </a:r>
                      <a:r>
                        <a:rPr lang="en-IN" sz="2000" b="0" dirty="0" err="1">
                          <a:solidFill>
                            <a:schemeClr val="tx1"/>
                          </a:solidFill>
                          <a:latin typeface="Times New Roman" panose="02020603050405020304" pitchFamily="18" charset="0"/>
                          <a:cs typeface="Times New Roman" panose="02020603050405020304" pitchFamily="18" charset="0"/>
                        </a:rPr>
                        <a:t>Thirumaraiselvan</a:t>
                      </a:r>
                      <a:r>
                        <a:rPr lang="en-IN" sz="2000" b="0" dirty="0">
                          <a:solidFill>
                            <a:schemeClr val="tx1"/>
                          </a:solidFill>
                          <a:latin typeface="Times New Roman" panose="02020603050405020304" pitchFamily="18" charset="0"/>
                          <a:cs typeface="Times New Roman" panose="02020603050405020304" pitchFamily="18" charset="0"/>
                        </a:rPr>
                        <a:t>, “Advancements in Immunization Management for Personalized Vaccine Scheduling with IoT and Machine Learning,” </a:t>
                      </a:r>
                      <a:r>
                        <a:rPr lang="en-IN" sz="2000" b="0" i="1" dirty="0">
                          <a:solidFill>
                            <a:schemeClr val="tx1"/>
                          </a:solidFill>
                          <a:latin typeface="Times New Roman" panose="02020603050405020304" pitchFamily="18" charset="0"/>
                          <a:cs typeface="Times New Roman" panose="02020603050405020304" pitchFamily="18" charset="0"/>
                        </a:rPr>
                        <a:t>10th International Conference on Communication and Signal Processing (ICCSP)</a:t>
                      </a:r>
                      <a:r>
                        <a:rPr lang="en-IN" sz="2000" b="0" dirty="0">
                          <a:solidFill>
                            <a:schemeClr val="tx1"/>
                          </a:solidFill>
                          <a:latin typeface="Times New Roman" panose="02020603050405020304" pitchFamily="18" charset="0"/>
                          <a:cs typeface="Times New Roman" panose="02020603050405020304" pitchFamily="18" charset="0"/>
                        </a:rPr>
                        <a:t>, pp. 1566–1570, April 2024.</a:t>
                      </a:r>
                      <a:endParaRPr lang="en-IN" sz="2000" b="0" kern="0" dirty="0">
                        <a:solidFill>
                          <a:schemeClr val="accent1">
                            <a:lumMod val="50000"/>
                          </a:schemeClr>
                        </a:solidFill>
                        <a:effectLst/>
                        <a:latin typeface="Cambria" panose="02040503050406030204" pitchFamily="18" charset="0"/>
                        <a:ea typeface="Cambria" panose="02040503050406030204" pitchFamily="18" charset="0"/>
                        <a:sym typeface="Wingdings" panose="05000000000000000000" pitchFamily="2" charset="2"/>
                      </a:endParaRPr>
                    </a:p>
                    <a:p>
                      <a:pPr marL="342900" indent="-342900" algn="l">
                        <a:lnSpc>
                          <a:spcPct val="115000"/>
                        </a:lnSpc>
                        <a:spcAft>
                          <a:spcPts val="0"/>
                        </a:spcAft>
                        <a:buFont typeface="Wingdings" panose="05000000000000000000" pitchFamily="2" charset="2"/>
                        <a:buChar char="à"/>
                      </a:pPr>
                      <a:endParaRPr lang="en-IN" sz="2000" b="1" kern="0" dirty="0">
                        <a:solidFill>
                          <a:schemeClr val="accent4">
                            <a:lumMod val="50000"/>
                          </a:schemeClr>
                        </a:solidFill>
                        <a:effectLst/>
                        <a:latin typeface="Agency FB" panose="020B0503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A5735925-D15A-9085-7495-5CE1CBD5CB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38999B0B-38C2-8436-3929-3B6F1F12E443}"/>
              </a:ext>
            </a:extLst>
          </p:cNvPr>
          <p:cNvSpPr>
            <a:spLocks noGrp="1"/>
          </p:cNvSpPr>
          <p:nvPr>
            <p:ph type="sldNum" sz="quarter" idx="12"/>
          </p:nvPr>
        </p:nvSpPr>
        <p:spPr>
          <a:xfrm>
            <a:off x="9448800" y="6578146"/>
            <a:ext cx="2743200" cy="36512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16</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Rectangle 8">
            <a:extLst>
              <a:ext uri="{FF2B5EF4-FFF2-40B4-BE49-F238E27FC236}">
                <a16:creationId xmlns:a16="http://schemas.microsoft.com/office/drawing/2014/main" id="{C60C53AD-AA40-40F4-7B75-DB4C8FE4540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
        <p:nvSpPr>
          <p:cNvPr id="5" name="TextBox 4">
            <a:extLst>
              <a:ext uri="{FF2B5EF4-FFF2-40B4-BE49-F238E27FC236}">
                <a16:creationId xmlns:a16="http://schemas.microsoft.com/office/drawing/2014/main" id="{5BCAD21D-7382-6BA3-A4E1-016CF15AF7F0}"/>
              </a:ext>
            </a:extLst>
          </p:cNvPr>
          <p:cNvSpPr txBox="1"/>
          <p:nvPr/>
        </p:nvSpPr>
        <p:spPr>
          <a:xfrm>
            <a:off x="11022058" y="6552624"/>
            <a:ext cx="1169942" cy="369332"/>
          </a:xfrm>
          <a:prstGeom prst="rect">
            <a:avLst/>
          </a:prstGeom>
          <a:noFill/>
        </p:spPr>
        <p:txBody>
          <a:bodyPr wrap="square" rtlCol="0">
            <a:spAutoFit/>
          </a:bodyPr>
          <a:lstStyle/>
          <a:p>
            <a:r>
              <a:rPr lang="en-US" dirty="0"/>
              <a:t>                16</a:t>
            </a:r>
            <a:endParaRPr lang="en-IN" dirty="0"/>
          </a:p>
        </p:txBody>
      </p:sp>
    </p:spTree>
    <p:extLst>
      <p:ext uri="{BB962C8B-B14F-4D97-AF65-F5344CB8AC3E}">
        <p14:creationId xmlns:p14="http://schemas.microsoft.com/office/powerpoint/2010/main" val="216357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BCA65-3D33-676A-6105-4E87C2742D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3E40E0-9A42-284D-A6EF-30C103229F38}"/>
              </a:ext>
            </a:extLst>
          </p:cNvPr>
          <p:cNvSpPr/>
          <p:nvPr/>
        </p:nvSpPr>
        <p:spPr>
          <a:xfrm>
            <a:off x="0" y="0"/>
            <a:ext cx="12192000" cy="6858000"/>
          </a:xfrm>
          <a:prstGeom prst="rect">
            <a:avLst/>
          </a:prstGeom>
          <a:solidFill>
            <a:srgbClr val="FCFD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91CFE55A-4A66-634A-1F05-8C5A87FB3AE2}"/>
              </a:ext>
            </a:extLst>
          </p:cNvPr>
          <p:cNvSpPr/>
          <p:nvPr/>
        </p:nvSpPr>
        <p:spPr>
          <a:xfrm>
            <a:off x="0" y="0"/>
            <a:ext cx="12192000"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7" name="Picture 2" descr="A logo for a company&#10;&#10;AI-generated content may be incorrect.">
            <a:extLst>
              <a:ext uri="{FF2B5EF4-FFF2-40B4-BE49-F238E27FC236}">
                <a16:creationId xmlns:a16="http://schemas.microsoft.com/office/drawing/2014/main" id="{324C5FAB-91A4-1B73-2DB3-69A828C6B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5896" y="63956"/>
            <a:ext cx="767685" cy="77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a:extLst>
              <a:ext uri="{FF2B5EF4-FFF2-40B4-BE49-F238E27FC236}">
                <a16:creationId xmlns:a16="http://schemas.microsoft.com/office/drawing/2014/main" id="{58C36F27-2B2E-5DE0-AA8D-D3608B73C0A1}"/>
              </a:ext>
            </a:extLst>
          </p:cNvPr>
          <p:cNvGraphicFramePr>
            <a:graphicFrameLocks noGrp="1"/>
          </p:cNvGraphicFramePr>
          <p:nvPr>
            <p:extLst>
              <p:ext uri="{D42A27DB-BD31-4B8C-83A1-F6EECF244321}">
                <p14:modId xmlns:p14="http://schemas.microsoft.com/office/powerpoint/2010/main" val="879823755"/>
              </p:ext>
            </p:extLst>
          </p:nvPr>
        </p:nvGraphicFramePr>
        <p:xfrm>
          <a:off x="907844" y="74842"/>
          <a:ext cx="10326214" cy="764223"/>
        </p:xfrm>
        <a:graphic>
          <a:graphicData uri="http://schemas.openxmlformats.org/drawingml/2006/table">
            <a:tbl>
              <a:tblPr firstRow="1" firstCol="1" bandRow="1">
                <a:tableStyleId>{5C22544A-7EE6-4342-B048-85BDC9FD1C3A}</a:tableStyleId>
              </a:tblPr>
              <a:tblGrid>
                <a:gridCol w="10326214">
                  <a:extLst>
                    <a:ext uri="{9D8B030D-6E8A-4147-A177-3AD203B41FA5}">
                      <a16:colId xmlns:a16="http://schemas.microsoft.com/office/drawing/2014/main" val="1495461617"/>
                    </a:ext>
                  </a:extLst>
                </a:gridCol>
              </a:tblGrid>
              <a:tr h="698044">
                <a:tc>
                  <a:txBody>
                    <a:bodyPr/>
                    <a:lstStyle/>
                    <a:p>
                      <a:pPr algn="ctr">
                        <a:lnSpc>
                          <a:spcPct val="115000"/>
                        </a:lnSpc>
                        <a:spcAft>
                          <a:spcPts val="0"/>
                        </a:spcAft>
                        <a:buNone/>
                      </a:pPr>
                      <a:r>
                        <a:rPr lang="en-IN" sz="3600" b="1" kern="0" dirty="0">
                          <a:solidFill>
                            <a:schemeClr val="accent2">
                              <a:lumMod val="50000"/>
                            </a:schemeClr>
                          </a:solidFill>
                          <a:effectLst/>
                          <a:latin typeface="Agency FB" panose="020B0503020202020204" pitchFamily="34" charset="0"/>
                        </a:rPr>
                        <a:t>SAI VIDYA INSTITUTE OF TECHNOLOGY</a:t>
                      </a:r>
                    </a:p>
                    <a:p>
                      <a:pPr algn="ctr">
                        <a:lnSpc>
                          <a:spcPct val="115000"/>
                        </a:lnSpc>
                        <a:spcAft>
                          <a:spcPts val="0"/>
                        </a:spcAft>
                        <a:buNone/>
                      </a:pPr>
                      <a:r>
                        <a:rPr lang="en-IN" sz="800" b="1" kern="0" dirty="0">
                          <a:solidFill>
                            <a:schemeClr val="accent2">
                              <a:lumMod val="50000"/>
                            </a:schemeClr>
                          </a:solidFill>
                          <a:effectLst/>
                        </a:rPr>
                        <a:t>Approved by AICTE, New Delhi, Affiliated to VTU, Recognized by Govt. of Karnataka, Accredited by NBA, New Delhi (CSE, ECE. ISE) NAAC "A" Grade</a:t>
                      </a:r>
                      <a:endParaRPr lang="en-IN" sz="1200" b="1" kern="100" dirty="0">
                        <a:solidFill>
                          <a:schemeClr val="accent2">
                            <a:lumMod val="50000"/>
                          </a:schemeClr>
                        </a:solidFill>
                        <a:effectLst/>
                        <a:latin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90040110"/>
                  </a:ext>
                </a:extLst>
              </a:tr>
            </a:tbl>
          </a:graphicData>
        </a:graphic>
      </p:graphicFrame>
      <p:graphicFrame>
        <p:nvGraphicFramePr>
          <p:cNvPr id="11" name="Table 10">
            <a:extLst>
              <a:ext uri="{FF2B5EF4-FFF2-40B4-BE49-F238E27FC236}">
                <a16:creationId xmlns:a16="http://schemas.microsoft.com/office/drawing/2014/main" id="{946EA4D5-C0C8-80AD-343A-DA365B7C8C5F}"/>
              </a:ext>
            </a:extLst>
          </p:cNvPr>
          <p:cNvGraphicFramePr>
            <a:graphicFrameLocks noGrp="1"/>
          </p:cNvGraphicFramePr>
          <p:nvPr>
            <p:extLst>
              <p:ext uri="{D42A27DB-BD31-4B8C-83A1-F6EECF244321}">
                <p14:modId xmlns:p14="http://schemas.microsoft.com/office/powerpoint/2010/main" val="1673582"/>
              </p:ext>
            </p:extLst>
          </p:nvPr>
        </p:nvGraphicFramePr>
        <p:xfrm>
          <a:off x="70082" y="1545771"/>
          <a:ext cx="12023500" cy="4376058"/>
        </p:xfrm>
        <a:graphic>
          <a:graphicData uri="http://schemas.openxmlformats.org/drawingml/2006/table">
            <a:tbl>
              <a:tblPr firstRow="1" firstCol="1" bandRow="1">
                <a:tableStyleId>{5C22544A-7EE6-4342-B048-85BDC9FD1C3A}</a:tableStyleId>
              </a:tblPr>
              <a:tblGrid>
                <a:gridCol w="12023500">
                  <a:extLst>
                    <a:ext uri="{9D8B030D-6E8A-4147-A177-3AD203B41FA5}">
                      <a16:colId xmlns:a16="http://schemas.microsoft.com/office/drawing/2014/main" val="1495461617"/>
                    </a:ext>
                  </a:extLst>
                </a:gridCol>
              </a:tblGrid>
              <a:tr h="4376058">
                <a:tc>
                  <a:txBody>
                    <a:bodyPr/>
                    <a:lstStyle/>
                    <a:p>
                      <a:pPr algn="ctr">
                        <a:lnSpc>
                          <a:spcPct val="115000"/>
                        </a:lnSpc>
                        <a:spcAft>
                          <a:spcPts val="0"/>
                        </a:spcAft>
                        <a:buNone/>
                      </a:pPr>
                      <a:r>
                        <a:rPr lang="en-IN" sz="11500" b="1" kern="0" dirty="0">
                          <a:solidFill>
                            <a:schemeClr val="accent1">
                              <a:lumMod val="50000"/>
                            </a:schemeClr>
                          </a:solidFill>
                          <a:effectLst/>
                          <a:latin typeface="Agency FB" panose="020B0503020202020204" pitchFamily="34" charset="0"/>
                        </a:rPr>
                        <a:t>THANK YOU</a:t>
                      </a:r>
                      <a:endParaRPr lang="en-IN" sz="8800" b="1" kern="0" dirty="0">
                        <a:solidFill>
                          <a:schemeClr val="accent1">
                            <a:lumMod val="50000"/>
                          </a:schemeClr>
                        </a:solidFill>
                        <a:effectLst/>
                        <a:latin typeface="Agency FB" panose="020B0503020202020204" pitchFamily="34"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CFDF1"/>
                    </a:solidFill>
                  </a:tcPr>
                </a:tc>
                <a:extLst>
                  <a:ext uri="{0D108BD9-81ED-4DB2-BD59-A6C34878D82A}">
                    <a16:rowId xmlns:a16="http://schemas.microsoft.com/office/drawing/2014/main" val="4190040110"/>
                  </a:ext>
                </a:extLst>
              </a:tr>
            </a:tbl>
          </a:graphicData>
        </a:graphic>
      </p:graphicFrame>
      <p:pic>
        <p:nvPicPr>
          <p:cNvPr id="2" name="Picture 4" descr="Sai Vidya Institute of Technology - Wikipedia">
            <a:extLst>
              <a:ext uri="{FF2B5EF4-FFF2-40B4-BE49-F238E27FC236}">
                <a16:creationId xmlns:a16="http://schemas.microsoft.com/office/drawing/2014/main" id="{37323626-C6F8-B338-A90F-9E9B65A344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9" y="74842"/>
            <a:ext cx="767685" cy="76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E8D2FCA6-7140-8660-5DFA-8364D015DFFE}"/>
              </a:ext>
            </a:extLst>
          </p:cNvPr>
          <p:cNvSpPr>
            <a:spLocks noGrp="1"/>
          </p:cNvSpPr>
          <p:nvPr>
            <p:ph type="sldNum" sz="quarter" idx="12"/>
          </p:nvPr>
        </p:nvSpPr>
        <p:spPr>
          <a:xfrm>
            <a:off x="9448800" y="6600595"/>
            <a:ext cx="2743200" cy="257405"/>
          </a:xfrm>
        </p:spPr>
        <p:txBody>
          <a:bodyPr/>
          <a:lstStyle/>
          <a:p>
            <a:fld id="{81A835E2-40D7-45A2-9147-8DCED05EC221}" type="slidenum">
              <a:rPr lang="en-IN" sz="1800" smtClean="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rPr>
              <a:t>17</a:t>
            </a:fld>
            <a:endParaRPr lang="en-IN" sz="1800" dirty="0">
              <a:solidFill>
                <a:schemeClr val="tx1">
                  <a:lumMod val="95000"/>
                  <a:lumOff val="5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0" name="Rectangle 9">
            <a:extLst>
              <a:ext uri="{FF2B5EF4-FFF2-40B4-BE49-F238E27FC236}">
                <a16:creationId xmlns:a16="http://schemas.microsoft.com/office/drawing/2014/main" id="{1CF17A46-AAC7-2F0A-6EBD-7B7F40651469}"/>
              </a:ext>
            </a:extLst>
          </p:cNvPr>
          <p:cNvSpPr/>
          <p:nvPr/>
        </p:nvSpPr>
        <p:spPr>
          <a:xfrm>
            <a:off x="0" y="6578146"/>
            <a:ext cx="12192000" cy="3483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accent1">
                    <a:lumMod val="50000"/>
                  </a:schemeClr>
                </a:solidFill>
                <a:latin typeface="Agency FB" panose="020B0503020202020204" pitchFamily="34" charset="0"/>
              </a:rPr>
              <a:t>DEPARTMENT OF COMPUTER SCIENCE AND ENGINEERING </a:t>
            </a:r>
          </a:p>
        </p:txBody>
      </p:sp>
    </p:spTree>
    <p:extLst>
      <p:ext uri="{BB962C8B-B14F-4D97-AF65-F5344CB8AC3E}">
        <p14:creationId xmlns:p14="http://schemas.microsoft.com/office/powerpoint/2010/main" val="3129974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5920</TotalTime>
  <Words>1646</Words>
  <Application>Microsoft Office PowerPoint</Application>
  <PresentationFormat>Widescreen</PresentationFormat>
  <Paragraphs>224</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ADLaM Display</vt:lpstr>
      <vt:lpstr>Agency FB</vt:lpstr>
      <vt:lpstr>Aptos</vt:lpstr>
      <vt:lpstr>Aptos Display</vt: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S M</dc:creator>
  <cp:lastModifiedBy>mahima k</cp:lastModifiedBy>
  <cp:revision>33</cp:revision>
  <dcterms:created xsi:type="dcterms:W3CDTF">2025-08-06T03:58:51Z</dcterms:created>
  <dcterms:modified xsi:type="dcterms:W3CDTF">2025-11-28T04:00:09Z</dcterms:modified>
</cp:coreProperties>
</file>